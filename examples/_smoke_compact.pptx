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300" b="1">
                <a:solidFill>
                  <a:srgbClr val="163B6D"/>
                </a:solidFill>
                <a:latin typeface="Arial"/>
              </a:rPr>
              <a:t>裂缝识别图形摘要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148840" cy="1828800"/>
          </a:xfrm>
          <a:prstGeom prst="roundRect">
            <a:avLst/>
          </a:prstGeom>
          <a:solidFill>
            <a:srgbClr val="EAF3FA"/>
          </a:solidFill>
          <a:ln w="1143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212848"/>
            <a:ext cx="19293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63B6D"/>
                </a:solidFill>
                <a:latin typeface="Arial"/>
              </a:rPr>
              <a:t>影像与标注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" y="2606039"/>
            <a:ext cx="181965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638044"/>
            <a:ext cx="170992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表面影像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953511"/>
            <a:ext cx="181965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985515"/>
            <a:ext cx="170992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像素级掩膜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3332" y="3364991"/>
            <a:ext cx="201168" cy="146304"/>
          </a:xfrm>
          <a:prstGeom prst="rect">
            <a:avLst/>
          </a:prstGeom>
          <a:solidFill>
            <a:srgbClr val="FFFFF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7652" y="3364991"/>
            <a:ext cx="201168" cy="146304"/>
          </a:xfrm>
          <a:prstGeom prst="rect">
            <a:avLst/>
          </a:prstGeom>
          <a:solidFill>
            <a:srgbClr val="FFFFF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1972" y="3364991"/>
            <a:ext cx="201168" cy="146304"/>
          </a:xfrm>
          <a:prstGeom prst="rect">
            <a:avLst/>
          </a:prstGeom>
          <a:solidFill>
            <a:srgbClr val="FFFFF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1691640"/>
            <a:ext cx="2743200" cy="2423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3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801368"/>
            <a:ext cx="2523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63B6D"/>
                </a:solidFill>
                <a:latin typeface="Arial"/>
              </a:rPr>
              <a:t>U-Net 分割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7911" y="2194560"/>
            <a:ext cx="241401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2226564"/>
            <a:ext cx="230428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编码-解码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1" y="2542032"/>
            <a:ext cx="241401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2574036"/>
            <a:ext cx="230428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跳跃连接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47872"/>
            <a:ext cx="146304" cy="146304"/>
          </a:xfrm>
          <a:prstGeom prst="ellipse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74920" y="3547872"/>
            <a:ext cx="146304" cy="146304"/>
          </a:xfrm>
          <a:prstGeom prst="ellipse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3547872"/>
            <a:ext cx="146304" cy="146304"/>
          </a:xfrm>
          <a:prstGeom prst="ellipse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736592" y="3621024"/>
            <a:ext cx="822960" cy="0"/>
          </a:xfrm>
          <a:prstGeom prst="line">
            <a:avLst/>
          </a:prstGeom>
          <a:ln w="1270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06640" y="2103120"/>
            <a:ext cx="2148840" cy="1828800"/>
          </a:xfrm>
          <a:prstGeom prst="roundRect">
            <a:avLst/>
          </a:prstGeom>
          <a:solidFill>
            <a:srgbClr val="EAF3FA"/>
          </a:solidFill>
          <a:ln w="1143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7" y="2212848"/>
            <a:ext cx="19293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63B6D"/>
                </a:solidFill>
                <a:latin typeface="Arial"/>
              </a:rPr>
              <a:t>量化与应用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606039"/>
            <a:ext cx="181965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2638044"/>
            <a:ext cx="170992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IoU / F1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2953511"/>
            <a:ext cx="1819656" cy="237744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2985515"/>
            <a:ext cx="1709928" cy="1463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19" b="0">
                <a:solidFill>
                  <a:srgbClr val="202833"/>
                </a:solidFill>
                <a:latin typeface="Arial"/>
              </a:rPr>
              <a:t>巡检决策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3588" y="3529584"/>
            <a:ext cx="146304" cy="146304"/>
          </a:xfrm>
          <a:prstGeom prst="rect">
            <a:avLst/>
          </a:prstGeom>
          <a:solidFill>
            <a:srgbClr val="7BAFD4"/>
          </a:solidFill>
          <a:ln>
            <a:solidFill>
              <a:srgbClr val="7BA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9619" y="3474720"/>
            <a:ext cx="146304" cy="201168"/>
          </a:xfrm>
          <a:prstGeom prst="rect">
            <a:avLst/>
          </a:prstGeom>
          <a:solidFill>
            <a:srgbClr val="7BAFD4"/>
          </a:solidFill>
          <a:ln>
            <a:solidFill>
              <a:srgbClr val="7BA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45652" y="3419856"/>
            <a:ext cx="146304" cy="256032"/>
          </a:xfrm>
          <a:prstGeom prst="rect">
            <a:avLst/>
          </a:prstGeom>
          <a:solidFill>
            <a:srgbClr val="7BAFD4"/>
          </a:solidFill>
          <a:ln>
            <a:solidFill>
              <a:srgbClr val="7BA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3136392" y="2903220"/>
            <a:ext cx="402335" cy="114300"/>
          </a:xfrm>
          <a:prstGeom prst="line">
            <a:avLst/>
          </a:prstGeom>
          <a:ln w="21590">
            <a:solidFill>
              <a:srgbClr val="163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11112" y="2903220"/>
            <a:ext cx="630936" cy="114300"/>
          </a:xfrm>
          <a:prstGeom prst="line">
            <a:avLst/>
          </a:prstGeom>
          <a:ln w="21590">
            <a:solidFill>
              <a:srgbClr val="163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5806440"/>
            <a:ext cx="10287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916168"/>
            <a:ext cx="1010412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0">
                <a:solidFill>
                  <a:srgbClr val="202833"/>
                </a:solidFill>
                <a:latin typeface="Arial"/>
              </a:rPr>
              <a:t>裂缝影像经过 U-Net 分割形成像素级掩膜，支撑病害量化与巡检决策。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