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377190"/>
            <a:ext cx="10728959" cy="5143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>
                <a:solidFill>
                  <a:srgbClr val="202A44"/>
                </a:solidFill>
                <a:latin typeface="Arial"/>
              </a:rPr>
              <a:t>Physics-guided neural operators improve structural response extrapolation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84959" y="925830"/>
            <a:ext cx="9022079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50" b="0">
                <a:solidFill>
                  <a:srgbClr val="6C7280"/>
                </a:solidFill>
                <a:latin typeface="Arial"/>
              </a:rPr>
              <a:t>Simulation data, governing constraints, and test-time closure are combined in an editable vector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39" y="2468879"/>
            <a:ext cx="2194559" cy="1577340"/>
          </a:xfrm>
          <a:prstGeom prst="roundRect">
            <a:avLst/>
          </a:prstGeom>
          <a:solidFill>
            <a:srgbClr val="F5F7FF"/>
          </a:solidFill>
          <a:ln w="15240">
            <a:solidFill>
              <a:srgbClr val="3B5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02079" y="2815894"/>
            <a:ext cx="1097279" cy="37719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B5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584959" y="2911906"/>
            <a:ext cx="731520" cy="0"/>
          </a:xfrm>
          <a:prstGeom prst="line">
            <a:avLst/>
          </a:prstGeom>
          <a:ln w="7620">
            <a:solidFill>
              <a:srgbClr val="3B5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84959" y="3001060"/>
            <a:ext cx="731520" cy="0"/>
          </a:xfrm>
          <a:prstGeom prst="line">
            <a:avLst/>
          </a:prstGeom>
          <a:ln w="7620">
            <a:solidFill>
              <a:srgbClr val="3B5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84959" y="3090214"/>
            <a:ext cx="731520" cy="0"/>
          </a:xfrm>
          <a:prstGeom prst="line">
            <a:avLst/>
          </a:prstGeom>
          <a:ln w="7620">
            <a:solidFill>
              <a:srgbClr val="3B5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621535" y="2939338"/>
            <a:ext cx="1097279" cy="37719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B5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804415" y="3035350"/>
            <a:ext cx="731520" cy="0"/>
          </a:xfrm>
          <a:prstGeom prst="line">
            <a:avLst/>
          </a:prstGeom>
          <a:ln w="7620">
            <a:solidFill>
              <a:srgbClr val="3B5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04415" y="3124504"/>
            <a:ext cx="731520" cy="0"/>
          </a:xfrm>
          <a:prstGeom prst="line">
            <a:avLst/>
          </a:prstGeom>
          <a:ln w="7620">
            <a:solidFill>
              <a:srgbClr val="3B5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04415" y="3213658"/>
            <a:ext cx="731520" cy="0"/>
          </a:xfrm>
          <a:prstGeom prst="line">
            <a:avLst/>
          </a:prstGeom>
          <a:ln w="7620">
            <a:solidFill>
              <a:srgbClr val="3B5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840991" y="3062782"/>
            <a:ext cx="1097279" cy="37719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B5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023871" y="3158794"/>
            <a:ext cx="731520" cy="0"/>
          </a:xfrm>
          <a:prstGeom prst="line">
            <a:avLst/>
          </a:prstGeom>
          <a:ln w="7620">
            <a:solidFill>
              <a:srgbClr val="3B5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023871" y="3247948"/>
            <a:ext cx="731520" cy="0"/>
          </a:xfrm>
          <a:prstGeom prst="line">
            <a:avLst/>
          </a:prstGeom>
          <a:ln w="7620">
            <a:solidFill>
              <a:srgbClr val="3B5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23871" y="3337102"/>
            <a:ext cx="731520" cy="0"/>
          </a:xfrm>
          <a:prstGeom prst="line">
            <a:avLst/>
          </a:prstGeom>
          <a:ln w="7620">
            <a:solidFill>
              <a:srgbClr val="3B5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58239" y="2640330"/>
            <a:ext cx="1584959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202A44"/>
                </a:solidFill>
                <a:latin typeface="Arial"/>
              </a:rPr>
              <a:t>Simulation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199" y="3304870"/>
            <a:ext cx="1463039" cy="536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6C7280"/>
                </a:solidFill>
                <a:latin typeface="Arial"/>
              </a:rPr>
              <a:t>- Boundary conditions
- Sparse observations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45279" y="2125980"/>
            <a:ext cx="3047999" cy="2194560"/>
          </a:xfrm>
          <a:prstGeom prst="roundRect">
            <a:avLst/>
          </a:prstGeom>
          <a:solidFill>
            <a:srgbClr val="F5F7FF"/>
          </a:solidFill>
          <a:ln w="1524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15839" y="2334463"/>
            <a:ext cx="243839" cy="13716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15839" y="2540203"/>
            <a:ext cx="243839" cy="13716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15839" y="2745943"/>
            <a:ext cx="243839" cy="13716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7359" y="2334463"/>
            <a:ext cx="243839" cy="13716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547359" y="2540203"/>
            <a:ext cx="243839" cy="13716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547359" y="2745943"/>
            <a:ext cx="243839" cy="13716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78879" y="2334463"/>
            <a:ext cx="243839" cy="13716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78879" y="2540203"/>
            <a:ext cx="243839" cy="13716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78879" y="2745943"/>
            <a:ext cx="243839" cy="13716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5059679" y="2403043"/>
            <a:ext cx="487680" cy="0"/>
          </a:xfrm>
          <a:prstGeom prst="line">
            <a:avLst/>
          </a:prstGeom>
          <a:ln w="4445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59679" y="2403043"/>
            <a:ext cx="487680" cy="205740"/>
          </a:xfrm>
          <a:prstGeom prst="line">
            <a:avLst/>
          </a:prstGeom>
          <a:ln w="4445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059679" y="2403043"/>
            <a:ext cx="487680" cy="411480"/>
          </a:xfrm>
          <a:prstGeom prst="line">
            <a:avLst/>
          </a:prstGeom>
          <a:ln w="4445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059679" y="2403043"/>
            <a:ext cx="487680" cy="205740"/>
          </a:xfrm>
          <a:prstGeom prst="line">
            <a:avLst/>
          </a:prstGeom>
          <a:ln w="4445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059679" y="2608783"/>
            <a:ext cx="487680" cy="0"/>
          </a:xfrm>
          <a:prstGeom prst="line">
            <a:avLst/>
          </a:prstGeom>
          <a:ln w="4445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059679" y="2608783"/>
            <a:ext cx="487680" cy="205740"/>
          </a:xfrm>
          <a:prstGeom prst="line">
            <a:avLst/>
          </a:prstGeom>
          <a:ln w="4445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059679" y="2403043"/>
            <a:ext cx="487680" cy="411480"/>
          </a:xfrm>
          <a:prstGeom prst="line">
            <a:avLst/>
          </a:prstGeom>
          <a:ln w="4445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059679" y="2608783"/>
            <a:ext cx="487680" cy="205740"/>
          </a:xfrm>
          <a:prstGeom prst="line">
            <a:avLst/>
          </a:prstGeom>
          <a:ln w="4445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059679" y="2814523"/>
            <a:ext cx="487680" cy="0"/>
          </a:xfrm>
          <a:prstGeom prst="line">
            <a:avLst/>
          </a:prstGeom>
          <a:ln w="4445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791199" y="2403043"/>
            <a:ext cx="487680" cy="0"/>
          </a:xfrm>
          <a:prstGeom prst="line">
            <a:avLst/>
          </a:prstGeom>
          <a:ln w="4445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791199" y="2403043"/>
            <a:ext cx="487680" cy="205740"/>
          </a:xfrm>
          <a:prstGeom prst="line">
            <a:avLst/>
          </a:prstGeom>
          <a:ln w="4445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791199" y="2403043"/>
            <a:ext cx="487680" cy="411480"/>
          </a:xfrm>
          <a:prstGeom prst="line">
            <a:avLst/>
          </a:prstGeom>
          <a:ln w="4445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791199" y="2403043"/>
            <a:ext cx="487680" cy="205740"/>
          </a:xfrm>
          <a:prstGeom prst="line">
            <a:avLst/>
          </a:prstGeom>
          <a:ln w="4445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791199" y="2608783"/>
            <a:ext cx="487680" cy="0"/>
          </a:xfrm>
          <a:prstGeom prst="line">
            <a:avLst/>
          </a:prstGeom>
          <a:ln w="4445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791199" y="2608783"/>
            <a:ext cx="487680" cy="205740"/>
          </a:xfrm>
          <a:prstGeom prst="line">
            <a:avLst/>
          </a:prstGeom>
          <a:ln w="4445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791199" y="2403043"/>
            <a:ext cx="487680" cy="411480"/>
          </a:xfrm>
          <a:prstGeom prst="line">
            <a:avLst/>
          </a:prstGeom>
          <a:ln w="4445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791199" y="2608783"/>
            <a:ext cx="487680" cy="205740"/>
          </a:xfrm>
          <a:prstGeom prst="line">
            <a:avLst/>
          </a:prstGeom>
          <a:ln w="4445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791199" y="2814523"/>
            <a:ext cx="487680" cy="0"/>
          </a:xfrm>
          <a:prstGeom prst="line">
            <a:avLst/>
          </a:prstGeom>
          <a:ln w="4445">
            <a:solidFill>
              <a:srgbClr val="B8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450079" y="2297430"/>
            <a:ext cx="2438399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202A44"/>
                </a:solidFill>
                <a:latin typeface="Arial"/>
              </a:rPr>
              <a:t>Neural operator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11039" y="3289096"/>
            <a:ext cx="2316479" cy="7461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6C7280"/>
                </a:solidFill>
                <a:latin typeface="Arial"/>
              </a:rPr>
              <a:t>- Latent field mapping
- Fast inference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76799" y="4732020"/>
            <a:ext cx="1950719" cy="891540"/>
          </a:xfrm>
          <a:prstGeom prst="roundRect">
            <a:avLst/>
          </a:prstGeom>
          <a:solidFill>
            <a:srgbClr val="F5F7FF"/>
          </a:solidFill>
          <a:ln w="1524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rc 50"/>
          <p:cNvSpPr/>
          <p:nvPr/>
        </p:nvSpPr>
        <p:spPr>
          <a:xfrm>
            <a:off x="5120639" y="4688128"/>
            <a:ext cx="975359" cy="480060"/>
          </a:xfrm>
          <a:prstGeom prst="arc">
            <a:avLst/>
          </a:prstGeom>
          <a:noFill/>
          <a:ln w="1397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Arc 51"/>
          <p:cNvSpPr/>
          <p:nvPr/>
        </p:nvSpPr>
        <p:spPr>
          <a:xfrm>
            <a:off x="5364479" y="4688128"/>
            <a:ext cx="975359" cy="480060"/>
          </a:xfrm>
          <a:prstGeom prst="arc">
            <a:avLst/>
          </a:prstGeom>
          <a:noFill/>
          <a:ln w="1397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Arc 52"/>
          <p:cNvSpPr/>
          <p:nvPr/>
        </p:nvSpPr>
        <p:spPr>
          <a:xfrm>
            <a:off x="5608319" y="4688128"/>
            <a:ext cx="975359" cy="480060"/>
          </a:xfrm>
          <a:prstGeom prst="arc">
            <a:avLst/>
          </a:prstGeom>
          <a:noFill/>
          <a:ln w="1397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18175" y="5168188"/>
            <a:ext cx="1267967" cy="205739"/>
          </a:xfrm>
          <a:prstGeom prst="rect">
            <a:avLst/>
          </a:prstGeom>
          <a:solidFill>
            <a:srgbClr val="FFFFFF"/>
          </a:solidFill>
          <a:ln w="1016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81599" y="4903470"/>
            <a:ext cx="1341119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202A44"/>
                </a:solidFill>
                <a:latin typeface="Arial"/>
              </a:rPr>
              <a:t>Physics closure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42559" y="5204536"/>
            <a:ext cx="1219199" cy="30312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6C7280"/>
                </a:solidFill>
                <a:latin typeface="Arial"/>
              </a:rPr>
              <a:t>- Residual control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00159" y="2468879"/>
            <a:ext cx="2316479" cy="1577340"/>
          </a:xfrm>
          <a:prstGeom prst="roundRect">
            <a:avLst/>
          </a:prstGeom>
          <a:solidFill>
            <a:srgbClr val="F5F7FF"/>
          </a:solidFill>
          <a:ln w="1524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9326879" y="3090214"/>
            <a:ext cx="1463040" cy="0"/>
          </a:xfrm>
          <a:prstGeom prst="line">
            <a:avLst/>
          </a:prstGeom>
          <a:ln w="10160">
            <a:solidFill>
              <a:srgbClr val="24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9448799" y="2884474"/>
            <a:ext cx="268223" cy="205739"/>
          </a:xfrm>
          <a:prstGeom prst="rect">
            <a:avLst/>
          </a:prstGeom>
          <a:solidFill>
            <a:srgbClr val="D9E2EC"/>
          </a:solidFill>
          <a:ln w="381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912095" y="2733598"/>
            <a:ext cx="268223" cy="356615"/>
          </a:xfrm>
          <a:prstGeom prst="rect">
            <a:avLst/>
          </a:prstGeom>
          <a:solidFill>
            <a:srgbClr val="D9E2EC"/>
          </a:solidFill>
          <a:ln w="381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375391" y="2569006"/>
            <a:ext cx="268223" cy="521207"/>
          </a:xfrm>
          <a:prstGeom prst="rect">
            <a:avLst/>
          </a:prstGeom>
          <a:solidFill>
            <a:srgbClr val="20C997"/>
          </a:solidFill>
          <a:ln w="381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04959" y="2640330"/>
            <a:ext cx="1706879" cy="3771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202A44"/>
                </a:solidFill>
                <a:latin typeface="Arial"/>
              </a:rPr>
              <a:t>Robust prediction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65919" y="3304870"/>
            <a:ext cx="1584959" cy="5362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>
                <a:solidFill>
                  <a:srgbClr val="6C7280"/>
                </a:solidFill>
                <a:latin typeface="Arial"/>
              </a:rPr>
              <a:t>- Lower error
- Better extrapolation</a:t>
            </a:r>
          </a:p>
        </p:txBody>
      </p:sp>
      <p:cxnSp>
        <p:nvCxnSpPr>
          <p:cNvPr id="64" name="Connector 63"/>
          <p:cNvCxnSpPr/>
          <p:nvPr/>
        </p:nvCxnSpPr>
        <p:spPr>
          <a:xfrm flipV="1">
            <a:off x="3047999" y="3223260"/>
            <a:ext cx="1097280" cy="34290"/>
          </a:xfrm>
          <a:prstGeom prst="line">
            <a:avLst/>
          </a:prstGeom>
          <a:ln w="17780">
            <a:solidFill>
              <a:srgbClr val="24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169919" y="3068954"/>
            <a:ext cx="853439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50" b="0">
                <a:solidFill>
                  <a:srgbClr val="6C7280"/>
                </a:solidFill>
                <a:latin typeface="Arial"/>
              </a:rPr>
              <a:t>learn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193279" y="3223260"/>
            <a:ext cx="1706880" cy="34290"/>
          </a:xfrm>
          <a:prstGeom prst="line">
            <a:avLst/>
          </a:prstGeom>
          <a:ln w="17780">
            <a:solidFill>
              <a:srgbClr val="24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619999" y="3068954"/>
            <a:ext cx="853439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50" b="0">
                <a:solidFill>
                  <a:srgbClr val="6C7280"/>
                </a:solidFill>
                <a:latin typeface="Arial"/>
              </a:rPr>
              <a:t>predict</a:t>
            </a:r>
          </a:p>
        </p:txBody>
      </p:sp>
      <p:cxnSp>
        <p:nvCxnSpPr>
          <p:cNvPr id="68" name="Connector 67"/>
          <p:cNvCxnSpPr/>
          <p:nvPr/>
        </p:nvCxnSpPr>
        <p:spPr>
          <a:xfrm flipH="1" flipV="1">
            <a:off x="4145279" y="3223260"/>
            <a:ext cx="2682240" cy="1954530"/>
          </a:xfrm>
          <a:prstGeom prst="line">
            <a:avLst/>
          </a:prstGeom>
          <a:ln w="17780">
            <a:solidFill>
              <a:srgbClr val="243B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059679" y="4029074"/>
            <a:ext cx="853439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50" b="0">
                <a:solidFill>
                  <a:srgbClr val="6C7280"/>
                </a:solidFill>
                <a:latin typeface="Arial"/>
              </a:rPr>
              <a:t>constrain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754879" y="1371600"/>
            <a:ext cx="2194559" cy="4800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76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876799" y="1474470"/>
            <a:ext cx="1950719" cy="3429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1">
                <a:solidFill>
                  <a:srgbClr val="F76707"/>
                </a:solidFill>
                <a:latin typeface="Arial"/>
              </a:rPr>
              <a:t>Editable vector PPTX</a:t>
            </a:r>
          </a:p>
        </p:txBody>
      </p:sp>
      <p:cxnSp>
        <p:nvCxnSpPr>
          <p:cNvPr id="72" name="Connector 71"/>
          <p:cNvCxnSpPr/>
          <p:nvPr/>
        </p:nvCxnSpPr>
        <p:spPr>
          <a:xfrm flipH="1">
            <a:off x="5669279" y="1371600"/>
            <a:ext cx="182880" cy="2948940"/>
          </a:xfrm>
          <a:prstGeom prst="line">
            <a:avLst/>
          </a:prstGeom>
          <a:ln w="11430">
            <a:solidFill>
              <a:srgbClr val="F767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731519" y="6309360"/>
            <a:ext cx="10728959" cy="24003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0">
                <a:solidFill>
                  <a:srgbClr val="6C7280"/>
                </a:solidFill>
                <a:latin typeface="Arial"/>
              </a:rPr>
              <a:t>No raster media | editable text and vector shapes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