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7219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240030"/>
            <a:ext cx="8778020" cy="4800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Microsoft YaHei"/>
              </a:rPr>
              <a:t>智能模型驱动材料性能预测与机制验证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720090"/>
            <a:ext cx="8534186" cy="308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5A6B7A"/>
                </a:solidFill>
                <a:latin typeface="Microsoft YaHei"/>
              </a:rPr>
              <a:t>中文顶级期刊风格：可编辑矢量图形摘要示例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522" y="308609"/>
            <a:ext cx="1950671" cy="308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D5F8A"/>
                </a:solidFill>
                <a:latin typeface="Microsoft YaHei"/>
              </a:rPr>
              <a:t>chinese top journal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2125980"/>
            <a:ext cx="0" cy="99441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5876397" y="2996946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7221" y="2451735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5A6B7A"/>
                </a:solidFill>
                <a:latin typeface="Microsoft YaHei"/>
              </a:rPr>
              <a:t>建模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3120390"/>
            <a:ext cx="0" cy="99441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5876397" y="3991356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7221" y="3446145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5A6B7A"/>
                </a:solidFill>
                <a:latin typeface="Microsoft YaHei"/>
              </a:rPr>
              <a:t>约束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4114800"/>
            <a:ext cx="0" cy="994409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5876397" y="4985765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7221" y="4440554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5A6B7A"/>
                </a:solidFill>
                <a:latin typeface="Microsoft YaHei"/>
              </a:rPr>
              <a:t>验证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5109209"/>
            <a:ext cx="0" cy="994410"/>
          </a:xfrm>
          <a:prstGeom prst="line">
            <a:avLst/>
          </a:prstGeom>
          <a:ln w="1143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5876397" y="5980175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7221" y="5434964"/>
            <a:ext cx="109725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30" b="0">
                <a:solidFill>
                  <a:srgbClr val="5A6B7A"/>
                </a:solidFill>
                <a:latin typeface="Microsoft YaHei"/>
              </a:rPr>
              <a:t>应用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05" y="1714500"/>
            <a:ext cx="7802684" cy="82295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4831812" y="1907895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5362395" y="1907895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5892977" y="1907895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6423560" y="1907895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6954142" y="1907895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4831812" y="2031339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5362395" y="2031339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5892977" y="2031339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6423560" y="2031339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6954142" y="2031339"/>
            <a:ext cx="343318" cy="65836"/>
          </a:xfrm>
          <a:prstGeom prst="hexagon">
            <a:avLst/>
          </a:prstGeom>
          <a:solidFill>
            <a:srgbClr val="F4F8FB"/>
          </a:solidFill>
          <a:ln w="6985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47418" y="2125980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59525" y="2105406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71632" y="2125980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83740" y="2105406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95847" y="2125980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7954" y="2105406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20062" y="2125980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32169" y="2105406"/>
            <a:ext cx="140448" cy="18516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9297" y="1885950"/>
            <a:ext cx="7193100" cy="1316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1A2A3A"/>
                </a:solidFill>
                <a:latin typeface="Microsoft YaHei"/>
              </a:rPr>
              <a:t>材料数据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99297" y="1854403"/>
            <a:ext cx="719310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5A6B7A"/>
                </a:solidFill>
                <a:latin typeface="Microsoft YaHei"/>
              </a:rPr>
              <a:t>Material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1214" y="2257653"/>
            <a:ext cx="6949266" cy="2304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5A6B7A"/>
                </a:solidFill>
                <a:latin typeface="Microsoft YaHei"/>
              </a:rPr>
              <a:t>- 结构特征
- 实验/仿真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4505" y="2708910"/>
            <a:ext cx="7802684" cy="82295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12028" y="2875559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12028" y="3007233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12028" y="3138906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53838" y="2875559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953838" y="2963341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53838" y="3051124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53838" y="3138906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95649" y="2875559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495649" y="3007233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95649" y="3138906"/>
            <a:ext cx="284017" cy="28803"/>
          </a:xfrm>
          <a:prstGeom prst="ellipse">
            <a:avLst/>
          </a:prstGeom>
          <a:solidFill>
            <a:srgbClr val="FFFFFF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4554037" y="2889961"/>
            <a:ext cx="1541810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54037" y="2889961"/>
            <a:ext cx="1541810" cy="8778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54037" y="2889961"/>
            <a:ext cx="1541810" cy="17556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54037" y="2889961"/>
            <a:ext cx="1541810" cy="26334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554037" y="2889961"/>
            <a:ext cx="1541810" cy="131673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554037" y="2977743"/>
            <a:ext cx="1541810" cy="43891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54037" y="3021634"/>
            <a:ext cx="1541810" cy="4389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54037" y="3021634"/>
            <a:ext cx="1541810" cy="131674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554037" y="2889961"/>
            <a:ext cx="1541810" cy="26334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554037" y="2977743"/>
            <a:ext cx="1541810" cy="17556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554037" y="3065526"/>
            <a:ext cx="1541810" cy="8778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54037" y="3153308"/>
            <a:ext cx="1541810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95847" y="2889961"/>
            <a:ext cx="1541811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95847" y="2889961"/>
            <a:ext cx="1541811" cy="131673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095847" y="2889961"/>
            <a:ext cx="1541811" cy="26334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095847" y="2889961"/>
            <a:ext cx="1541811" cy="8778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095847" y="2977743"/>
            <a:ext cx="1541811" cy="43891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095847" y="2977743"/>
            <a:ext cx="1541811" cy="17556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095847" y="2889961"/>
            <a:ext cx="1541811" cy="175565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095847" y="3021634"/>
            <a:ext cx="1541811" cy="4389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095847" y="3065526"/>
            <a:ext cx="1541811" cy="87782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095847" y="2889961"/>
            <a:ext cx="1541811" cy="263347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095847" y="3021634"/>
            <a:ext cx="1541811" cy="131674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095847" y="3153308"/>
            <a:ext cx="1541811" cy="0"/>
          </a:xfrm>
          <a:prstGeom prst="line">
            <a:avLst/>
          </a:prstGeom>
          <a:ln w="2794">
            <a:solidFill>
              <a:srgbClr val="C7D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499297" y="2880360"/>
            <a:ext cx="7193100" cy="1316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1A2A3A"/>
                </a:solidFill>
                <a:latin typeface="Microsoft YaHei"/>
              </a:rPr>
              <a:t>智能模型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99297" y="2848813"/>
            <a:ext cx="719310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5A6B7A"/>
                </a:solidFill>
                <a:latin typeface="Microsoft YaHei"/>
              </a:rPr>
              <a:t>AI model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21214" y="3252063"/>
            <a:ext cx="6949266" cy="2304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5A6B7A"/>
                </a:solidFill>
                <a:latin typeface="Microsoft YaHei"/>
              </a:rPr>
              <a:t>- 特征学习
- 性能预测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194505" y="3703320"/>
            <a:ext cx="7802684" cy="82295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rc 79"/>
          <p:cNvSpPr/>
          <p:nvPr/>
        </p:nvSpPr>
        <p:spPr>
          <a:xfrm>
            <a:off x="5296852" y="3876141"/>
            <a:ext cx="1597989" cy="263347"/>
          </a:xfrm>
          <a:prstGeom prst="arc">
            <a:avLst/>
          </a:prstGeom>
          <a:noFill/>
          <a:ln w="1524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rc 80"/>
          <p:cNvSpPr/>
          <p:nvPr/>
        </p:nvSpPr>
        <p:spPr>
          <a:xfrm rot="5400000">
            <a:off x="5296852" y="3876141"/>
            <a:ext cx="1597989" cy="263347"/>
          </a:xfrm>
          <a:prstGeom prst="arc">
            <a:avLst/>
          </a:prstGeom>
          <a:noFill/>
          <a:ln w="1524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rc 81"/>
          <p:cNvSpPr/>
          <p:nvPr/>
        </p:nvSpPr>
        <p:spPr>
          <a:xfrm rot="10800000">
            <a:off x="5296852" y="3876141"/>
            <a:ext cx="1597989" cy="263347"/>
          </a:xfrm>
          <a:prstGeom prst="arc">
            <a:avLst/>
          </a:prstGeom>
          <a:noFill/>
          <a:ln w="1524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rc 82"/>
          <p:cNvSpPr/>
          <p:nvPr/>
        </p:nvSpPr>
        <p:spPr>
          <a:xfrm rot="16200000">
            <a:off x="5296852" y="3876141"/>
            <a:ext cx="1597989" cy="263347"/>
          </a:xfrm>
          <a:prstGeom prst="arc">
            <a:avLst/>
          </a:prstGeom>
          <a:noFill/>
          <a:ln w="1524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796224" y="3958437"/>
            <a:ext cx="599246" cy="98755"/>
          </a:xfrm>
          <a:prstGeom prst="ellipse">
            <a:avLst/>
          </a:prstGeom>
          <a:solidFill>
            <a:srgbClr val="F4F8FB"/>
          </a:solidFill>
          <a:ln w="889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99297" y="3874770"/>
            <a:ext cx="7193100" cy="1316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1A2A3A"/>
                </a:solidFill>
                <a:latin typeface="Microsoft YaHei"/>
              </a:rPr>
              <a:t>物理约束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99297" y="3843223"/>
            <a:ext cx="719310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5A6B7A"/>
                </a:solidFill>
                <a:latin typeface="Microsoft YaHei"/>
              </a:rPr>
              <a:t>Physics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1214" y="4246473"/>
            <a:ext cx="6949266" cy="2304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5A6B7A"/>
                </a:solidFill>
                <a:latin typeface="Microsoft YaHei"/>
              </a:rPr>
              <a:t>- 机制一致
- 结果可解释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194505" y="4697729"/>
            <a:ext cx="7802684" cy="82295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791238" y="5147395"/>
            <a:ext cx="2677882" cy="0"/>
          </a:xfrm>
          <a:prstGeom prst="line">
            <a:avLst/>
          </a:prstGeom>
          <a:ln w="762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5065893" y="4993337"/>
            <a:ext cx="343318" cy="154058"/>
          </a:xfrm>
          <a:prstGeom prst="rect">
            <a:avLst/>
          </a:prstGeom>
          <a:solidFill>
            <a:srgbClr val="D9E2EC"/>
          </a:solidFill>
          <a:ln w="25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46538" y="4924866"/>
            <a:ext cx="343318" cy="222528"/>
          </a:xfrm>
          <a:prstGeom prst="rect">
            <a:avLst/>
          </a:prstGeom>
          <a:solidFill>
            <a:srgbClr val="D9E2EC"/>
          </a:solidFill>
          <a:ln w="25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27183" y="4847837"/>
            <a:ext cx="343318" cy="299557"/>
          </a:xfrm>
          <a:prstGeom prst="rect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99297" y="4869179"/>
            <a:ext cx="7193100" cy="1316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1A2A3A"/>
                </a:solidFill>
                <a:latin typeface="Microsoft YaHei"/>
              </a:rPr>
              <a:t>结果验证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99297" y="4837633"/>
            <a:ext cx="719310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5A6B7A"/>
                </a:solidFill>
                <a:latin typeface="Microsoft YaHei"/>
              </a:rPr>
              <a:t>Validation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1214" y="5240883"/>
            <a:ext cx="6949266" cy="2304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5A6B7A"/>
                </a:solidFill>
                <a:latin typeface="Microsoft YaHei"/>
              </a:rPr>
              <a:t>- 对比分析
- 误差评估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94505" y="5692140"/>
            <a:ext cx="7802684" cy="822959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535310" y="5873191"/>
            <a:ext cx="3121073" cy="213969"/>
          </a:xfrm>
          <a:prstGeom prst="roundRect">
            <a:avLst/>
          </a:prstGeom>
          <a:solidFill>
            <a:srgbClr val="F4F8FB"/>
          </a:solidFill>
          <a:ln w="1016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4847418" y="5922568"/>
            <a:ext cx="312107" cy="123444"/>
          </a:xfrm>
          <a:prstGeom prst="line">
            <a:avLst/>
          </a:prstGeom>
          <a:ln w="11430">
            <a:solidFill>
              <a:srgbClr val="3A8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3293279">
            <a:off x="4940074" y="5799124"/>
            <a:ext cx="438901" cy="246887"/>
          </a:xfrm>
          <a:prstGeom prst="triangle">
            <a:avLst/>
          </a:prstGeom>
          <a:solidFill>
            <a:srgbClr val="3A8FB7"/>
          </a:solidFill>
          <a:ln w="127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5393605" y="5922568"/>
            <a:ext cx="312108" cy="123444"/>
          </a:xfrm>
          <a:prstGeom prst="line">
            <a:avLst/>
          </a:prstGeom>
          <a:ln w="11430">
            <a:solidFill>
              <a:srgbClr val="B2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3293279">
            <a:off x="5486262" y="5799124"/>
            <a:ext cx="438901" cy="246887"/>
          </a:xfrm>
          <a:prstGeom prst="triangle">
            <a:avLst/>
          </a:prstGeom>
          <a:solidFill>
            <a:srgbClr val="B23A48"/>
          </a:solidFill>
          <a:ln w="127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5939793" y="5922568"/>
            <a:ext cx="312108" cy="123444"/>
          </a:xfrm>
          <a:prstGeom prst="line">
            <a:avLst/>
          </a:prstGeom>
          <a:ln w="11430">
            <a:solidFill>
              <a:srgbClr val="3A8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Isosceles Triangle 102"/>
          <p:cNvSpPr/>
          <p:nvPr/>
        </p:nvSpPr>
        <p:spPr>
          <a:xfrm rot="3293279">
            <a:off x="6032450" y="5799124"/>
            <a:ext cx="438901" cy="246887"/>
          </a:xfrm>
          <a:prstGeom prst="triangle">
            <a:avLst/>
          </a:prstGeom>
          <a:solidFill>
            <a:srgbClr val="3A8FB7"/>
          </a:solidFill>
          <a:ln w="127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 flipV="1">
            <a:off x="6485981" y="5922568"/>
            <a:ext cx="312108" cy="123444"/>
          </a:xfrm>
          <a:prstGeom prst="line">
            <a:avLst/>
          </a:prstGeom>
          <a:ln w="11430">
            <a:solidFill>
              <a:srgbClr val="B2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Isosceles Triangle 104"/>
          <p:cNvSpPr/>
          <p:nvPr/>
        </p:nvSpPr>
        <p:spPr>
          <a:xfrm rot="3293279">
            <a:off x="6578638" y="5799124"/>
            <a:ext cx="438901" cy="246887"/>
          </a:xfrm>
          <a:prstGeom prst="triangle">
            <a:avLst/>
          </a:prstGeom>
          <a:solidFill>
            <a:srgbClr val="B23A48"/>
          </a:solidFill>
          <a:ln w="127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7032169" y="5922568"/>
            <a:ext cx="312108" cy="123444"/>
          </a:xfrm>
          <a:prstGeom prst="line">
            <a:avLst/>
          </a:prstGeom>
          <a:ln w="11430">
            <a:solidFill>
              <a:srgbClr val="3A8F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3293279">
            <a:off x="7124826" y="5799124"/>
            <a:ext cx="438901" cy="246887"/>
          </a:xfrm>
          <a:prstGeom prst="triangle">
            <a:avLst/>
          </a:prstGeom>
          <a:solidFill>
            <a:srgbClr val="3A8FB7"/>
          </a:solidFill>
          <a:ln w="127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925444" y="6099505"/>
            <a:ext cx="390134" cy="49377"/>
          </a:xfrm>
          <a:prstGeom prst="ellipse">
            <a:avLst/>
          </a:prstGeom>
          <a:solidFill>
            <a:srgbClr val="FFFFFF"/>
          </a:solidFill>
          <a:ln w="762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25444" y="6109792"/>
            <a:ext cx="390134" cy="185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1">
                <a:solidFill>
                  <a:srgbClr val="1A2A3A"/>
                </a:solidFill>
                <a:latin typeface="Arial"/>
              </a:rPr>
              <a:t>RE</a:t>
            </a:r>
          </a:p>
        </p:txBody>
      </p:sp>
      <p:sp>
        <p:nvSpPr>
          <p:cNvPr id="110" name="Oval 109"/>
          <p:cNvSpPr/>
          <p:nvPr/>
        </p:nvSpPr>
        <p:spPr>
          <a:xfrm>
            <a:off x="5705713" y="6099505"/>
            <a:ext cx="390134" cy="49377"/>
          </a:xfrm>
          <a:prstGeom prst="ellipse">
            <a:avLst/>
          </a:prstGeom>
          <a:solidFill>
            <a:srgbClr val="FFFFFF"/>
          </a:solidFill>
          <a:ln w="762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05713" y="6109792"/>
            <a:ext cx="390134" cy="185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1">
                <a:solidFill>
                  <a:srgbClr val="1A2A3A"/>
                </a:solidFill>
                <a:latin typeface="Arial"/>
              </a:rPr>
              <a:t>Fe</a:t>
            </a:r>
          </a:p>
        </p:txBody>
      </p:sp>
      <p:sp>
        <p:nvSpPr>
          <p:cNvPr id="112" name="Oval 111"/>
          <p:cNvSpPr/>
          <p:nvPr/>
        </p:nvSpPr>
        <p:spPr>
          <a:xfrm>
            <a:off x="6485981" y="6099505"/>
            <a:ext cx="390134" cy="49377"/>
          </a:xfrm>
          <a:prstGeom prst="ellipse">
            <a:avLst/>
          </a:prstGeom>
          <a:solidFill>
            <a:srgbClr val="FFFFFF"/>
          </a:solidFill>
          <a:ln w="762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85981" y="6109792"/>
            <a:ext cx="390134" cy="185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1">
                <a:solidFill>
                  <a:srgbClr val="1A2A3A"/>
                </a:solidFill>
                <a:latin typeface="Arial"/>
              </a:rPr>
              <a:t>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99297" y="5863590"/>
            <a:ext cx="7193100" cy="1316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1A2A3A"/>
                </a:solidFill>
                <a:latin typeface="Microsoft YaHei"/>
              </a:rPr>
              <a:t>工程应用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99297" y="5832043"/>
            <a:ext cx="719310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5A6B7A"/>
                </a:solidFill>
                <a:latin typeface="Microsoft YaHei"/>
              </a:rPr>
              <a:t>Application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21214" y="6235293"/>
            <a:ext cx="6949266" cy="2304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40" b="0">
                <a:solidFill>
                  <a:srgbClr val="5A6B7A"/>
                </a:solidFill>
                <a:latin typeface="Microsoft YaHei"/>
              </a:rPr>
              <a:t>- 材料筛选
- 工艺优化</a:t>
            </a:r>
          </a:p>
        </p:txBody>
      </p:sp>
      <p:sp>
        <p:nvSpPr>
          <p:cNvPr id="117" name="Oval 116"/>
          <p:cNvSpPr/>
          <p:nvPr/>
        </p:nvSpPr>
        <p:spPr>
          <a:xfrm>
            <a:off x="8953580" y="1083564"/>
            <a:ext cx="395010" cy="19202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953580" y="1152144"/>
            <a:ext cx="395010" cy="342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" b="0">
                <a:solidFill>
                  <a:srgbClr val="1A2A3A"/>
                </a:solidFill>
                <a:latin typeface="Arial"/>
              </a:rPr>
              <a:t>micro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9348591" y="1179576"/>
            <a:ext cx="219451" cy="0"/>
          </a:xfrm>
          <a:prstGeom prst="line">
            <a:avLst/>
          </a:prstGeom>
          <a:ln w="889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9348591" y="1056132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568042" y="1083564"/>
            <a:ext cx="395010" cy="19202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568042" y="1152144"/>
            <a:ext cx="395010" cy="342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" b="0">
                <a:solidFill>
                  <a:srgbClr val="1A2A3A"/>
                </a:solidFill>
                <a:latin typeface="Arial"/>
              </a:rPr>
              <a:t>meso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9963053" y="1179576"/>
            <a:ext cx="219450" cy="0"/>
          </a:xfrm>
          <a:prstGeom prst="line">
            <a:avLst/>
          </a:prstGeom>
          <a:ln w="889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9963053" y="1056132"/>
            <a:ext cx="438901" cy="246887"/>
          </a:xfrm>
          <a:prstGeom prst="triangle">
            <a:avLst/>
          </a:prstGeom>
          <a:solidFill>
            <a:srgbClr val="243B53"/>
          </a:solidFill>
          <a:ln w="1270">
            <a:solidFill>
              <a:srgbClr val="24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182503" y="1083564"/>
            <a:ext cx="395010" cy="19202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182503" y="1152144"/>
            <a:ext cx="395010" cy="342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" b="0">
                <a:solidFill>
                  <a:srgbClr val="1A2A3A"/>
                </a:solidFill>
                <a:latin typeface="Arial"/>
              </a:rPr>
              <a:t>macro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78020" y="1453896"/>
            <a:ext cx="2194505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0">
                <a:solidFill>
                  <a:srgbClr val="5A6B7A"/>
                </a:solidFill>
                <a:latin typeface="Microsoft YaHei"/>
              </a:rPr>
              <a:t>多尺度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463003" y="5897880"/>
            <a:ext cx="9265688" cy="514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706837" y="6000750"/>
            <a:ext cx="87780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1A2A3A"/>
                </a:solidFill>
                <a:latin typeface="Microsoft YaHei"/>
              </a:rPr>
              <a:t>物理约束支撑智能预测结果的可解释验证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7219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411479"/>
            <a:ext cx="10728691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Microsoft YaHei"/>
              </a:rPr>
              <a:t>Generation notes and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1234439"/>
            <a:ext cx="10241023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Microsoft YaHei"/>
              </a:rPr>
              <a:t>Abstract content brief
main_process: 围绕材料数据、智能模型、物理约束、性能验证和工程应用构建图形摘要，展示从数据输入到机制约束再到性能预测的完整路径。
visual_objects: 材料微结构; 神经网络; 机制约束; 性能验证; 应用场景
method_or_model: 物理约束智能预测模型
mechanism: 利用物理约束提高预测结果的可解释性和稳定性。
key_result: 性能预测和机制验证仅以用户提供的验证结果为依据。
application: 材料筛选、工艺优化和性能评估。
source_figures_to_redraw: 模型流程图; 材料微结构示意图; 性能对比图
forbidden_content: 未经验证的提升幅度; 未提供的材料机制; 夸张宣传性表述
Prompt confirmation
{
  "decision": "accepted_all",
  "accepted_items": [
    "中文顶刊表述",
    "矢量重绘",
    "质量门控"
  ],
  "user_confirmed": true
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17219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411479"/>
            <a:ext cx="10728691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Microsoft YaHei"/>
              </a:rPr>
              <a:t>Quality gates</a:t>
            </a:r>
          </a:p>
        </p:txBody>
      </p:sp>
      <p:sp>
        <p:nvSpPr>
          <p:cNvPr id="5" name="Oval 4"/>
          <p:cNvSpPr/>
          <p:nvPr/>
        </p:nvSpPr>
        <p:spPr>
          <a:xfrm>
            <a:off x="1097252" y="1234439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84920" y="1207007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Q0 content brief sufficient</a:t>
            </a:r>
          </a:p>
        </p:txBody>
      </p:sp>
      <p:sp>
        <p:nvSpPr>
          <p:cNvPr id="7" name="Oval 6"/>
          <p:cNvSpPr/>
          <p:nvPr/>
        </p:nvSpPr>
        <p:spPr>
          <a:xfrm>
            <a:off x="1097252" y="171450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4920" y="168706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Q1 visible claims traceable</a:t>
            </a:r>
          </a:p>
        </p:txBody>
      </p:sp>
      <p:sp>
        <p:nvSpPr>
          <p:cNvPr id="9" name="Oval 8"/>
          <p:cNvSpPr/>
          <p:nvPr/>
        </p:nvSpPr>
        <p:spPr>
          <a:xfrm>
            <a:off x="1097252" y="219456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4920" y="216712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Q2 one central visual story</a:t>
            </a:r>
          </a:p>
        </p:txBody>
      </p:sp>
      <p:sp>
        <p:nvSpPr>
          <p:cNvPr id="11" name="Oval 10"/>
          <p:cNvSpPr/>
          <p:nvPr/>
        </p:nvSpPr>
        <p:spPr>
          <a:xfrm>
            <a:off x="1097252" y="267462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4920" y="264718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Q3 editable vector construction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97252" y="315468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4920" y="312724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Q4 typography and language discipline</a:t>
            </a:r>
          </a:p>
        </p:txBody>
      </p:sp>
      <p:sp>
        <p:nvSpPr>
          <p:cNvPr id="15" name="Oval 14"/>
          <p:cNvSpPr/>
          <p:nvPr/>
        </p:nvSpPr>
        <p:spPr>
          <a:xfrm>
            <a:off x="1097252" y="363474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4920" y="360730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Q5 palette and contrast consistency</a:t>
            </a:r>
          </a:p>
        </p:txBody>
      </p:sp>
      <p:sp>
        <p:nvSpPr>
          <p:cNvPr id="17" name="Oval 16"/>
          <p:cNvSpPr/>
          <p:nvPr/>
        </p:nvSpPr>
        <p:spPr>
          <a:xfrm>
            <a:off x="1097252" y="411480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4920" y="408736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Q6 no raster/media/OLE/external assets</a:t>
            </a:r>
          </a:p>
        </p:txBody>
      </p:sp>
      <p:sp>
        <p:nvSpPr>
          <p:cNvPr id="19" name="Oval 18"/>
          <p:cNvSpPr/>
          <p:nvPr/>
        </p:nvSpPr>
        <p:spPr>
          <a:xfrm>
            <a:off x="1097252" y="459486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4920" y="456742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Q7 requested package complete</a:t>
            </a:r>
          </a:p>
        </p:txBody>
      </p:sp>
      <p:sp>
        <p:nvSpPr>
          <p:cNvPr id="21" name="Oval 20"/>
          <p:cNvSpPr/>
          <p:nvPr/>
        </p:nvSpPr>
        <p:spPr>
          <a:xfrm>
            <a:off x="1097252" y="5074920"/>
            <a:ext cx="304792" cy="308609"/>
          </a:xfrm>
          <a:prstGeom prst="ellipse">
            <a:avLst/>
          </a:prstGeom>
          <a:solidFill>
            <a:srgbClr val="3A8FB7"/>
          </a:solidFill>
          <a:ln w="2540">
            <a:solidFill>
              <a:srgbClr val="3A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84920" y="5047488"/>
            <a:ext cx="9021854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Microsoft YaHei"/>
              </a:rPr>
              <a:t>Q8 palette preview available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3" y="240030"/>
            <a:ext cx="8778020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Microsoft YaHei"/>
              </a:rPr>
              <a:t>Palette strip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43" y="685800"/>
            <a:ext cx="10484857" cy="308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52616B"/>
                </a:solidFill>
                <a:latin typeface="Microsoft YaHei"/>
              </a:rPr>
              <a:t>Order: background, neutral, primary, secondary, accent, line, text. All swatches are editable vector rectangles.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1275588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nature_blue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0799" y="1234439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30518" y="1234439"/>
            <a:ext cx="914377" cy="425196"/>
          </a:xfrm>
          <a:prstGeom prst="rect">
            <a:avLst/>
          </a:prstGeom>
          <a:solidFill>
            <a:srgbClr val="F4F8F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0237" y="1234439"/>
            <a:ext cx="914377" cy="425196"/>
          </a:xfrm>
          <a:prstGeom prst="rect">
            <a:avLst/>
          </a:prstGeom>
          <a:solidFill>
            <a:srgbClr val="1F6B99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9956" y="1234439"/>
            <a:ext cx="914377" cy="425196"/>
          </a:xfrm>
          <a:prstGeom prst="rect">
            <a:avLst/>
          </a:prstGeom>
          <a:solidFill>
            <a:srgbClr val="3BA7C9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9675" y="1234439"/>
            <a:ext cx="914377" cy="425196"/>
          </a:xfrm>
          <a:prstGeom prst="rect">
            <a:avLst/>
          </a:prstGeom>
          <a:solidFill>
            <a:srgbClr val="F28E2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394" y="1234439"/>
            <a:ext cx="914377" cy="425196"/>
          </a:xfrm>
          <a:prstGeom prst="rect">
            <a:avLst/>
          </a:prstGeom>
          <a:solidFill>
            <a:srgbClr val="2B3A4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29113" y="1234439"/>
            <a:ext cx="914377" cy="425196"/>
          </a:xfrm>
          <a:prstGeom prst="rect">
            <a:avLst/>
          </a:prstGeom>
          <a:solidFill>
            <a:srgbClr val="1F293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84857" y="1282446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#F4F8FB  #1F6B99  #3BA7C9  #F28E2B  #2B3A42  #1F2933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43" y="1783080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science_graphite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0799" y="1741932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0518" y="1741932"/>
            <a:ext cx="914377" cy="425196"/>
          </a:xfrm>
          <a:prstGeom prst="rect">
            <a:avLst/>
          </a:prstGeom>
          <a:solidFill>
            <a:srgbClr val="F3F4F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30237" y="1741932"/>
            <a:ext cx="914377" cy="425196"/>
          </a:xfrm>
          <a:prstGeom prst="rect">
            <a:avLst/>
          </a:prstGeom>
          <a:solidFill>
            <a:srgbClr val="374151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9956" y="1741932"/>
            <a:ext cx="914377" cy="425196"/>
          </a:xfrm>
          <a:prstGeom prst="rect">
            <a:avLst/>
          </a:prstGeom>
          <a:solidFill>
            <a:srgbClr val="9CA3A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9675" y="1741932"/>
            <a:ext cx="914377" cy="425196"/>
          </a:xfrm>
          <a:prstGeom prst="rect">
            <a:avLst/>
          </a:prstGeom>
          <a:solidFill>
            <a:srgbClr val="D9770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394" y="1741932"/>
            <a:ext cx="914377" cy="425196"/>
          </a:xfrm>
          <a:prstGeom prst="rect">
            <a:avLst/>
          </a:prstGeom>
          <a:solidFill>
            <a:srgbClr val="1F293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9113" y="1741932"/>
            <a:ext cx="914377" cy="425196"/>
          </a:xfrm>
          <a:prstGeom prst="rect">
            <a:avLst/>
          </a:prstGeom>
          <a:solidFill>
            <a:srgbClr val="11182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84857" y="1789938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#F3F4F6  #374151  #9CA3AF  #D97706  #1F2937  #111827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" y="2290572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advanced_materials_teal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0799" y="2249423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30518" y="2249423"/>
            <a:ext cx="914377" cy="425196"/>
          </a:xfrm>
          <a:prstGeom prst="rect">
            <a:avLst/>
          </a:prstGeom>
          <a:solidFill>
            <a:srgbClr val="F6FAF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30237" y="2249423"/>
            <a:ext cx="914377" cy="425196"/>
          </a:xfrm>
          <a:prstGeom prst="rect">
            <a:avLst/>
          </a:prstGeom>
          <a:solidFill>
            <a:srgbClr val="087E8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956" y="2249423"/>
            <a:ext cx="914377" cy="425196"/>
          </a:xfrm>
          <a:prstGeom prst="rect">
            <a:avLst/>
          </a:prstGeom>
          <a:solidFill>
            <a:srgbClr val="56A3A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9675" y="2249423"/>
            <a:ext cx="914377" cy="425196"/>
          </a:xfrm>
          <a:prstGeom prst="rect">
            <a:avLst/>
          </a:prstGeom>
          <a:solidFill>
            <a:srgbClr val="F25F5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394" y="2249423"/>
            <a:ext cx="914377" cy="425196"/>
          </a:xfrm>
          <a:prstGeom prst="rect">
            <a:avLst/>
          </a:prstGeom>
          <a:solidFill>
            <a:srgbClr val="1B496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29113" y="2249423"/>
            <a:ext cx="914377" cy="425196"/>
          </a:xfrm>
          <a:prstGeom prst="rect">
            <a:avLst/>
          </a:prstGeom>
          <a:solidFill>
            <a:srgbClr val="172A3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4857" y="2297429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#F6FAFA  #087E8B  #56A3A6  #F25F5C  #1B4965  #172A3A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43" y="2798063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cell_biomedical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0799" y="2756915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30518" y="2756915"/>
            <a:ext cx="914377" cy="425196"/>
          </a:xfrm>
          <a:prstGeom prst="rect">
            <a:avLst/>
          </a:prstGeom>
          <a:solidFill>
            <a:srgbClr val="F8F5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30237" y="2756915"/>
            <a:ext cx="914377" cy="425196"/>
          </a:xfrm>
          <a:prstGeom prst="rect">
            <a:avLst/>
          </a:prstGeom>
          <a:solidFill>
            <a:srgbClr val="7B2CB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9956" y="2756915"/>
            <a:ext cx="914377" cy="425196"/>
          </a:xfrm>
          <a:prstGeom prst="rect">
            <a:avLst/>
          </a:prstGeom>
          <a:solidFill>
            <a:srgbClr val="2EC4B6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29675" y="2756915"/>
            <a:ext cx="914377" cy="425196"/>
          </a:xfrm>
          <a:prstGeom prst="rect">
            <a:avLst/>
          </a:prstGeom>
          <a:solidFill>
            <a:srgbClr val="FF9F1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394" y="2756915"/>
            <a:ext cx="914377" cy="425196"/>
          </a:xfrm>
          <a:prstGeom prst="rect">
            <a:avLst/>
          </a:prstGeom>
          <a:solidFill>
            <a:srgbClr val="3D405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29113" y="2756915"/>
            <a:ext cx="914377" cy="425196"/>
          </a:xfrm>
          <a:prstGeom prst="rect">
            <a:avLst/>
          </a:prstGeom>
          <a:solidFill>
            <a:srgbClr val="25323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4857" y="2804922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#F8F5FF  #7B2CBF  #2EC4B6  #FF9F1C  #3D405B  #253237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43" y="3305556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engineering_amber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799" y="3264408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30518" y="3264408"/>
            <a:ext cx="914377" cy="425196"/>
          </a:xfrm>
          <a:prstGeom prst="rect">
            <a:avLst/>
          </a:prstGeom>
          <a:solidFill>
            <a:srgbClr val="FAF7F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30237" y="3264408"/>
            <a:ext cx="914377" cy="425196"/>
          </a:xfrm>
          <a:prstGeom prst="rect">
            <a:avLst/>
          </a:prstGeom>
          <a:solidFill>
            <a:srgbClr val="0F4C5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29956" y="3264408"/>
            <a:ext cx="914377" cy="425196"/>
          </a:xfrm>
          <a:prstGeom prst="rect">
            <a:avLst/>
          </a:prstGeom>
          <a:solidFill>
            <a:srgbClr val="E3641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9675" y="3264408"/>
            <a:ext cx="914377" cy="425196"/>
          </a:xfrm>
          <a:prstGeom prst="rect">
            <a:avLst/>
          </a:prstGeom>
          <a:solidFill>
            <a:srgbClr val="5F0F40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394" y="3264408"/>
            <a:ext cx="914377" cy="425196"/>
          </a:xfrm>
          <a:prstGeom prst="rect">
            <a:avLst/>
          </a:prstGeom>
          <a:solidFill>
            <a:srgbClr val="33415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29113" y="3264408"/>
            <a:ext cx="914377" cy="425196"/>
          </a:xfrm>
          <a:prstGeom prst="rect">
            <a:avLst/>
          </a:prstGeom>
          <a:solidFill>
            <a:srgbClr val="1F293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84857" y="3312414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#FAF7F2  #0F4C5C  #E36414  #5F0F40  #334155  #1F2937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43" y="3813048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ai4science_indigo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30799" y="3771900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30518" y="3771900"/>
            <a:ext cx="914377" cy="425196"/>
          </a:xfrm>
          <a:prstGeom prst="rect">
            <a:avLst/>
          </a:prstGeom>
          <a:solidFill>
            <a:srgbClr val="F5F7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30237" y="3771900"/>
            <a:ext cx="914377" cy="425196"/>
          </a:xfrm>
          <a:prstGeom prst="rect">
            <a:avLst/>
          </a:prstGeom>
          <a:solidFill>
            <a:srgbClr val="3B5BD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29956" y="3771900"/>
            <a:ext cx="914377" cy="425196"/>
          </a:xfrm>
          <a:prstGeom prst="rect">
            <a:avLst/>
          </a:prstGeom>
          <a:solidFill>
            <a:srgbClr val="20C99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29675" y="3771900"/>
            <a:ext cx="914377" cy="425196"/>
          </a:xfrm>
          <a:prstGeom prst="rect">
            <a:avLst/>
          </a:prstGeom>
          <a:solidFill>
            <a:srgbClr val="F7670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394" y="3771900"/>
            <a:ext cx="914377" cy="425196"/>
          </a:xfrm>
          <a:prstGeom prst="rect">
            <a:avLst/>
          </a:prstGeom>
          <a:solidFill>
            <a:srgbClr val="243B5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29113" y="3771900"/>
            <a:ext cx="914377" cy="425196"/>
          </a:xfrm>
          <a:prstGeom prst="rect">
            <a:avLst/>
          </a:prstGeom>
          <a:solidFill>
            <a:srgbClr val="202A4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4857" y="3819906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#F5F7FF  #3B5BDB  #20C997  #F76707  #243B53  #202A44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0543" y="4320540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earth_environment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30799" y="4279391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30518" y="4279391"/>
            <a:ext cx="914377" cy="425196"/>
          </a:xfrm>
          <a:prstGeom prst="rect">
            <a:avLst/>
          </a:prstGeom>
          <a:solidFill>
            <a:srgbClr val="F4F8F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30237" y="4279391"/>
            <a:ext cx="914377" cy="425196"/>
          </a:xfrm>
          <a:prstGeom prst="rect">
            <a:avLst/>
          </a:prstGeom>
          <a:solidFill>
            <a:srgbClr val="2D6A4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29956" y="4279391"/>
            <a:ext cx="914377" cy="425196"/>
          </a:xfrm>
          <a:prstGeom prst="rect">
            <a:avLst/>
          </a:prstGeom>
          <a:solidFill>
            <a:srgbClr val="40916C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29675" y="4279391"/>
            <a:ext cx="914377" cy="425196"/>
          </a:xfrm>
          <a:prstGeom prst="rect">
            <a:avLst/>
          </a:prstGeom>
          <a:solidFill>
            <a:srgbClr val="DDA15E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9394" y="4279391"/>
            <a:ext cx="914377" cy="425196"/>
          </a:xfrm>
          <a:prstGeom prst="rect">
            <a:avLst/>
          </a:prstGeom>
          <a:solidFill>
            <a:srgbClr val="26465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29113" y="4279391"/>
            <a:ext cx="914377" cy="425196"/>
          </a:xfrm>
          <a:prstGeom prst="rect">
            <a:avLst/>
          </a:prstGeom>
          <a:solidFill>
            <a:srgbClr val="233D4D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84857" y="4327397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#F4F8F5  #2D6A4F  #40916C  #DDA15E  #264653  #233D4D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0543" y="4828031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minimal_mono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30799" y="4786883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30518" y="4786883"/>
            <a:ext cx="914377" cy="425196"/>
          </a:xfrm>
          <a:prstGeom prst="rect">
            <a:avLst/>
          </a:prstGeom>
          <a:solidFill>
            <a:srgbClr val="F5F5F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230237" y="4786883"/>
            <a:ext cx="914377" cy="425196"/>
          </a:xfrm>
          <a:prstGeom prst="rect">
            <a:avLst/>
          </a:prstGeom>
          <a:solidFill>
            <a:srgbClr val="22222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29956" y="4786883"/>
            <a:ext cx="914377" cy="425196"/>
          </a:xfrm>
          <a:prstGeom prst="rect">
            <a:avLst/>
          </a:prstGeom>
          <a:solidFill>
            <a:srgbClr val="888888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29675" y="4786883"/>
            <a:ext cx="914377" cy="425196"/>
          </a:xfrm>
          <a:prstGeom prst="rect">
            <a:avLst/>
          </a:prstGeom>
          <a:solidFill>
            <a:srgbClr val="B45309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9394" y="4786883"/>
            <a:ext cx="914377" cy="425196"/>
          </a:xfrm>
          <a:prstGeom prst="rect">
            <a:avLst/>
          </a:prstGeom>
          <a:solidFill>
            <a:srgbClr val="222222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29113" y="4786883"/>
            <a:ext cx="914377" cy="425196"/>
          </a:xfrm>
          <a:prstGeom prst="rect">
            <a:avLst/>
          </a:prstGeom>
          <a:solidFill>
            <a:srgbClr val="111111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84857" y="4834890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#F5F5F5  #222222  #888888  #B45309  #222222  #111111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0543" y="5335524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chinese_science_blue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30799" y="5294376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30518" y="5294376"/>
            <a:ext cx="914377" cy="425196"/>
          </a:xfrm>
          <a:prstGeom prst="rect">
            <a:avLst/>
          </a:prstGeom>
          <a:solidFill>
            <a:srgbClr val="F4F8F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30237" y="5294376"/>
            <a:ext cx="914377" cy="425196"/>
          </a:xfrm>
          <a:prstGeom prst="rect">
            <a:avLst/>
          </a:prstGeom>
          <a:solidFill>
            <a:srgbClr val="1D5F8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29956" y="5294376"/>
            <a:ext cx="914377" cy="425196"/>
          </a:xfrm>
          <a:prstGeom prst="rect">
            <a:avLst/>
          </a:prstGeom>
          <a:solidFill>
            <a:srgbClr val="3A8FB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29675" y="5294376"/>
            <a:ext cx="914377" cy="425196"/>
          </a:xfrm>
          <a:prstGeom prst="rect">
            <a:avLst/>
          </a:prstGeom>
          <a:solidFill>
            <a:srgbClr val="B23A48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29394" y="5294376"/>
            <a:ext cx="914377" cy="425196"/>
          </a:xfrm>
          <a:prstGeom prst="rect">
            <a:avLst/>
          </a:prstGeom>
          <a:solidFill>
            <a:srgbClr val="243B5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29113" y="5294376"/>
            <a:ext cx="914377" cy="425196"/>
          </a:xfrm>
          <a:prstGeom prst="rect">
            <a:avLst/>
          </a:prstGeom>
          <a:solidFill>
            <a:srgbClr val="1A2A3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84857" y="5342382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#F4F8FB  #1D5F8A  #3A8FB7  #B23A48  #243B53  #1A2A3A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0543" y="5843015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chinese_academy_red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30799" y="5801867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30518" y="5801867"/>
            <a:ext cx="914377" cy="425196"/>
          </a:xfrm>
          <a:prstGeom prst="rect">
            <a:avLst/>
          </a:prstGeom>
          <a:solidFill>
            <a:srgbClr val="FBF7F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230237" y="5801867"/>
            <a:ext cx="914377" cy="425196"/>
          </a:xfrm>
          <a:prstGeom prst="rect">
            <a:avLst/>
          </a:prstGeom>
          <a:solidFill>
            <a:srgbClr val="9E2A2B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29956" y="5801867"/>
            <a:ext cx="914377" cy="425196"/>
          </a:xfrm>
          <a:prstGeom prst="rect">
            <a:avLst/>
          </a:prstGeom>
          <a:solidFill>
            <a:srgbClr val="335C6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29675" y="5801867"/>
            <a:ext cx="914377" cy="425196"/>
          </a:xfrm>
          <a:prstGeom prst="rect">
            <a:avLst/>
          </a:prstGeom>
          <a:solidFill>
            <a:srgbClr val="C9A227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394" y="5801867"/>
            <a:ext cx="914377" cy="425196"/>
          </a:xfrm>
          <a:prstGeom prst="rect">
            <a:avLst/>
          </a:prstGeom>
          <a:solidFill>
            <a:srgbClr val="3A2E2E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229113" y="5801867"/>
            <a:ext cx="914377" cy="425196"/>
          </a:xfrm>
          <a:prstGeom prst="rect">
            <a:avLst/>
          </a:prstGeom>
          <a:solidFill>
            <a:srgbClr val="241A1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84857" y="5849873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#FBF7F4  #9E2A2B  #335C67  #C9A227  #3A2E2E  #241A1A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0543" y="6350507"/>
            <a:ext cx="2438339" cy="3188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Microsoft YaHei"/>
              </a:rPr>
              <a:t>sci_cjk_bilingual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30799" y="6309359"/>
            <a:ext cx="914377" cy="425196"/>
          </a:xfrm>
          <a:prstGeom prst="rect">
            <a:avLst/>
          </a:prstGeom>
          <a:solidFill>
            <a:srgbClr val="FFFFF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30518" y="6309359"/>
            <a:ext cx="914377" cy="425196"/>
          </a:xfrm>
          <a:prstGeom prst="rect">
            <a:avLst/>
          </a:prstGeom>
          <a:solidFill>
            <a:srgbClr val="F5F8FA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30237" y="6309359"/>
            <a:ext cx="914377" cy="425196"/>
          </a:xfrm>
          <a:prstGeom prst="rect">
            <a:avLst/>
          </a:prstGeom>
          <a:solidFill>
            <a:srgbClr val="255F85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29956" y="6309359"/>
            <a:ext cx="914377" cy="425196"/>
          </a:xfrm>
          <a:prstGeom prst="rect">
            <a:avLst/>
          </a:prstGeom>
          <a:solidFill>
            <a:srgbClr val="2A9D8F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29675" y="6309359"/>
            <a:ext cx="914377" cy="425196"/>
          </a:xfrm>
          <a:prstGeom prst="rect">
            <a:avLst/>
          </a:prstGeom>
          <a:solidFill>
            <a:srgbClr val="D45D44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29394" y="6309359"/>
            <a:ext cx="914377" cy="425196"/>
          </a:xfrm>
          <a:prstGeom prst="rect">
            <a:avLst/>
          </a:prstGeom>
          <a:solidFill>
            <a:srgbClr val="2D3748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29113" y="6309359"/>
            <a:ext cx="914377" cy="425196"/>
          </a:xfrm>
          <a:prstGeom prst="rect">
            <a:avLst/>
          </a:prstGeom>
          <a:solidFill>
            <a:srgbClr val="172033"/>
          </a:solidFill>
          <a:ln w="4445">
            <a:solidFill>
              <a:srgbClr val="C8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84857" y="6357366"/>
            <a:ext cx="1463003" cy="3061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" b="0">
                <a:solidFill>
                  <a:srgbClr val="374151"/>
                </a:solidFill>
                <a:latin typeface="Microsoft YaHei"/>
              </a:rPr>
              <a:t>#FFFFFF  #F5F8FA  #255F85  #2A9D8F  #D45D44  #2D3748  #172033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