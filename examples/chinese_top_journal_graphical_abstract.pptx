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2062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300" b="1">
                <a:solidFill>
                  <a:srgbClr val="163B6D"/>
                </a:solidFill>
                <a:latin typeface="Arial"/>
              </a:rPr>
              <a:t>材料机制图形摘要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2148840"/>
            <a:ext cx="2057400" cy="1737360"/>
          </a:xfrm>
          <a:prstGeom prst="roundRect">
            <a:avLst/>
          </a:prstGeom>
          <a:solidFill>
            <a:srgbClr val="EAF3FA"/>
          </a:solidFill>
          <a:ln w="11430">
            <a:solidFill>
              <a:srgbClr val="2F6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2258568"/>
            <a:ext cx="1837943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50" b="1">
                <a:solidFill>
                  <a:srgbClr val="163B6D"/>
                </a:solidFill>
                <a:latin typeface="Arial"/>
              </a:rPr>
              <a:t>工艺输入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2651760"/>
            <a:ext cx="1728216" cy="237744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2683764"/>
            <a:ext cx="1618488" cy="1463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19" b="0">
                <a:solidFill>
                  <a:srgbClr val="202833"/>
                </a:solidFill>
                <a:latin typeface="Arial"/>
              </a:rPr>
              <a:t>制备参数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2999232"/>
            <a:ext cx="1728216" cy="237744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3031236"/>
            <a:ext cx="1618488" cy="1463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19" b="0">
                <a:solidFill>
                  <a:srgbClr val="202833"/>
                </a:solidFill>
                <a:latin typeface="Arial"/>
              </a:rPr>
              <a:t>质量控制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9012" y="3319272"/>
            <a:ext cx="201168" cy="146304"/>
          </a:xfrm>
          <a:prstGeom prst="rect">
            <a:avLst/>
          </a:prstGeom>
          <a:solidFill>
            <a:srgbClr val="FFFFFF"/>
          </a:solidFill>
          <a:ln>
            <a:solidFill>
              <a:srgbClr val="2F6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13332" y="3319272"/>
            <a:ext cx="201168" cy="146304"/>
          </a:xfrm>
          <a:prstGeom prst="rect">
            <a:avLst/>
          </a:prstGeom>
          <a:solidFill>
            <a:srgbClr val="FFFFFF"/>
          </a:solidFill>
          <a:ln>
            <a:solidFill>
              <a:srgbClr val="2F6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87652" y="3319272"/>
            <a:ext cx="201168" cy="146304"/>
          </a:xfrm>
          <a:prstGeom prst="rect">
            <a:avLst/>
          </a:prstGeom>
          <a:solidFill>
            <a:srgbClr val="FFFFFF"/>
          </a:solidFill>
          <a:ln>
            <a:solidFill>
              <a:srgbClr val="2F6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63240" y="1755648"/>
            <a:ext cx="2514600" cy="2331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3B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72968" y="1865376"/>
            <a:ext cx="229514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63B6D"/>
                </a:solidFill>
                <a:latin typeface="Arial"/>
              </a:rPr>
              <a:t>组织演化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2258568"/>
            <a:ext cx="2185416" cy="237744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82696" y="2290572"/>
            <a:ext cx="2075688" cy="1463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19" b="0">
                <a:solidFill>
                  <a:srgbClr val="202833"/>
                </a:solidFill>
                <a:latin typeface="Arial"/>
              </a:rPr>
              <a:t>晶粒尺度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27832" y="2606039"/>
            <a:ext cx="2185416" cy="237744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82696" y="2638044"/>
            <a:ext cx="2075688" cy="1463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19" b="0">
                <a:solidFill>
                  <a:srgbClr val="202833"/>
                </a:solidFill>
                <a:latin typeface="Arial"/>
              </a:rPr>
              <a:t>相界面</a:t>
            </a:r>
          </a:p>
        </p:txBody>
      </p:sp>
      <p:sp>
        <p:nvSpPr>
          <p:cNvPr id="18" name="Oval 17"/>
          <p:cNvSpPr/>
          <p:nvPr/>
        </p:nvSpPr>
        <p:spPr>
          <a:xfrm>
            <a:off x="3909059" y="3520439"/>
            <a:ext cx="146304" cy="146304"/>
          </a:xfrm>
          <a:prstGeom prst="ellipse">
            <a:avLst/>
          </a:prstGeom>
          <a:solidFill>
            <a:srgbClr val="2F6F9F"/>
          </a:solidFill>
          <a:ln>
            <a:solidFill>
              <a:srgbClr val="2F6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20540" y="3520439"/>
            <a:ext cx="146304" cy="146304"/>
          </a:xfrm>
          <a:prstGeom prst="ellipse">
            <a:avLst/>
          </a:prstGeom>
          <a:solidFill>
            <a:srgbClr val="2F6F9F"/>
          </a:solidFill>
          <a:ln>
            <a:solidFill>
              <a:srgbClr val="2F6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732020" y="3520439"/>
            <a:ext cx="146304" cy="146304"/>
          </a:xfrm>
          <a:prstGeom prst="ellipse">
            <a:avLst/>
          </a:prstGeom>
          <a:solidFill>
            <a:srgbClr val="2F6F9F"/>
          </a:solidFill>
          <a:ln>
            <a:solidFill>
              <a:srgbClr val="2F6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982211" y="3593591"/>
            <a:ext cx="822961" cy="0"/>
          </a:xfrm>
          <a:prstGeom prst="line">
            <a:avLst/>
          </a:prstGeom>
          <a:ln w="12700">
            <a:solidFill>
              <a:srgbClr val="2F6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89320" y="2148840"/>
            <a:ext cx="2057400" cy="1737360"/>
          </a:xfrm>
          <a:prstGeom prst="roundRect">
            <a:avLst/>
          </a:prstGeom>
          <a:solidFill>
            <a:srgbClr val="EAF3FA"/>
          </a:solidFill>
          <a:ln w="11430">
            <a:solidFill>
              <a:srgbClr val="2F6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9048" y="2258568"/>
            <a:ext cx="1837943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50" b="1">
                <a:solidFill>
                  <a:srgbClr val="163B6D"/>
                </a:solidFill>
                <a:latin typeface="Arial"/>
              </a:rPr>
              <a:t>磁畴调控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2651760"/>
            <a:ext cx="1728216" cy="237744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8776" y="2683764"/>
            <a:ext cx="1618488" cy="1463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19" b="0">
                <a:solidFill>
                  <a:srgbClr val="202833"/>
                </a:solidFill>
                <a:latin typeface="Arial"/>
              </a:rPr>
              <a:t>取向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2999232"/>
            <a:ext cx="1728216" cy="237744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8776" y="3031236"/>
            <a:ext cx="1618488" cy="1463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19" b="0">
                <a:solidFill>
                  <a:srgbClr val="202833"/>
                </a:solidFill>
                <a:latin typeface="Arial"/>
              </a:rPr>
              <a:t>畴壁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0548" y="3483864"/>
            <a:ext cx="146304" cy="146304"/>
          </a:xfrm>
          <a:prstGeom prst="rect">
            <a:avLst/>
          </a:prstGeom>
          <a:solidFill>
            <a:srgbClr val="7BAFD4"/>
          </a:solidFill>
          <a:ln>
            <a:solidFill>
              <a:srgbClr val="7BAF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26580" y="3429000"/>
            <a:ext cx="146304" cy="201168"/>
          </a:xfrm>
          <a:prstGeom prst="rect">
            <a:avLst/>
          </a:prstGeom>
          <a:solidFill>
            <a:srgbClr val="7BAFD4"/>
          </a:solidFill>
          <a:ln>
            <a:solidFill>
              <a:srgbClr val="7BAF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82612" y="3374136"/>
            <a:ext cx="146304" cy="256032"/>
          </a:xfrm>
          <a:prstGeom prst="rect">
            <a:avLst/>
          </a:prstGeom>
          <a:solidFill>
            <a:srgbClr val="7BAFD4"/>
          </a:solidFill>
          <a:ln>
            <a:solidFill>
              <a:srgbClr val="7BAF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58200" y="2148840"/>
            <a:ext cx="2057400" cy="1737360"/>
          </a:xfrm>
          <a:prstGeom prst="roundRect">
            <a:avLst/>
          </a:prstGeom>
          <a:solidFill>
            <a:srgbClr val="EAF3FA"/>
          </a:solidFill>
          <a:ln w="11430">
            <a:solidFill>
              <a:srgbClr val="2F6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67928" y="2258568"/>
            <a:ext cx="1837943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50" b="1">
                <a:solidFill>
                  <a:srgbClr val="163B6D"/>
                </a:solidFill>
                <a:latin typeface="Arial"/>
              </a:rPr>
              <a:t>性能评价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22792" y="2651760"/>
            <a:ext cx="1728216" cy="237744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77656" y="2683764"/>
            <a:ext cx="1618488" cy="1463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19" b="0">
                <a:solidFill>
                  <a:srgbClr val="202833"/>
                </a:solidFill>
                <a:latin typeface="Arial"/>
              </a:rPr>
              <a:t>指标占位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22792" y="2999232"/>
            <a:ext cx="1728216" cy="237744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77656" y="3031236"/>
            <a:ext cx="1618488" cy="1463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19" b="0">
                <a:solidFill>
                  <a:srgbClr val="202833"/>
                </a:solidFill>
                <a:latin typeface="Arial"/>
              </a:rPr>
              <a:t>应用优化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39428" y="3483864"/>
            <a:ext cx="146304" cy="146304"/>
          </a:xfrm>
          <a:prstGeom prst="rect">
            <a:avLst/>
          </a:prstGeom>
          <a:solidFill>
            <a:srgbClr val="7BAFD4"/>
          </a:solidFill>
          <a:ln>
            <a:solidFill>
              <a:srgbClr val="7BAF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95459" y="3429000"/>
            <a:ext cx="146304" cy="201168"/>
          </a:xfrm>
          <a:prstGeom prst="rect">
            <a:avLst/>
          </a:prstGeom>
          <a:solidFill>
            <a:srgbClr val="7BAFD4"/>
          </a:solidFill>
          <a:ln>
            <a:solidFill>
              <a:srgbClr val="7BAF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51492" y="3374136"/>
            <a:ext cx="146304" cy="256032"/>
          </a:xfrm>
          <a:prstGeom prst="rect">
            <a:avLst/>
          </a:prstGeom>
          <a:solidFill>
            <a:srgbClr val="7BAFD4"/>
          </a:solidFill>
          <a:ln>
            <a:solidFill>
              <a:srgbClr val="7BAF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2816352" y="2921508"/>
            <a:ext cx="82296" cy="96012"/>
          </a:xfrm>
          <a:prstGeom prst="line">
            <a:avLst/>
          </a:prstGeom>
          <a:ln w="21590">
            <a:solidFill>
              <a:srgbClr val="163B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742431" y="2921508"/>
            <a:ext cx="82297" cy="96012"/>
          </a:xfrm>
          <a:prstGeom prst="line">
            <a:avLst/>
          </a:prstGeom>
          <a:ln w="21590">
            <a:solidFill>
              <a:srgbClr val="163B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211312" y="3017520"/>
            <a:ext cx="82296" cy="0"/>
          </a:xfrm>
          <a:prstGeom prst="line">
            <a:avLst/>
          </a:prstGeom>
          <a:ln w="21590">
            <a:solidFill>
              <a:srgbClr val="163B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60120" y="5806440"/>
            <a:ext cx="1028700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1560" y="5916168"/>
            <a:ext cx="10104120" cy="1645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0">
                <a:solidFill>
                  <a:srgbClr val="202833"/>
                </a:solidFill>
                <a:latin typeface="Arial"/>
              </a:rPr>
              <a:t>工艺、组织、磁畴与性能形成可追溯、可验证的多尺度机制链条，支撑材料设计与优化，并用于工艺参数反馈。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