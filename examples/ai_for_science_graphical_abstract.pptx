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17219"/>
          </a:xfrm>
          <a:prstGeom prst="rect">
            <a:avLst/>
          </a:prstGeom>
          <a:solidFill>
            <a:srgbClr val="F5F7FF"/>
          </a:solidFill>
          <a:ln>
            <a:solidFill>
              <a:srgbClr val="F5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01" y="240030"/>
            <a:ext cx="8778020" cy="4800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000" b="1">
                <a:solidFill>
                  <a:srgbClr val="202A44"/>
                </a:solidFill>
                <a:latin typeface="Arial"/>
              </a:rPr>
              <a:t>Physics-guided AI turns multimodal data into reliable scientific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01" y="720090"/>
            <a:ext cx="8534186" cy="30860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>
                <a:solidFill>
                  <a:srgbClr val="6C7280"/>
                </a:solidFill>
                <a:latin typeface="Arial"/>
              </a:rPr>
              <a:t>Editable vector graphical abstract generated from a structured content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522" y="308609"/>
            <a:ext cx="1950671" cy="30860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50" b="0">
                <a:solidFill>
                  <a:srgbClr val="3B5BDB"/>
                </a:solidFill>
                <a:latin typeface="Arial"/>
              </a:rPr>
              <a:t>international top journal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26287" y="3497580"/>
            <a:ext cx="2084780" cy="0"/>
          </a:xfrm>
          <a:prstGeom prst="line">
            <a:avLst/>
          </a:prstGeom>
          <a:ln w="11430">
            <a:solidFill>
              <a:srgbClr val="243B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Isosceles Triangle 7"/>
          <p:cNvSpPr/>
          <p:nvPr/>
        </p:nvSpPr>
        <p:spPr>
          <a:xfrm rot="5400000">
            <a:off x="3791617" y="3374136"/>
            <a:ext cx="438901" cy="246887"/>
          </a:xfrm>
          <a:prstGeom prst="triangle">
            <a:avLst/>
          </a:prstGeom>
          <a:solidFill>
            <a:srgbClr val="243B53"/>
          </a:solidFill>
          <a:ln w="1270">
            <a:solidFill>
              <a:srgbClr val="243B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20051" y="3326129"/>
            <a:ext cx="1097252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730" b="0">
                <a:solidFill>
                  <a:srgbClr val="6C7280"/>
                </a:solidFill>
                <a:latin typeface="Arial"/>
              </a:rPr>
              <a:t>train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11067" y="3497580"/>
            <a:ext cx="2084780" cy="0"/>
          </a:xfrm>
          <a:prstGeom prst="line">
            <a:avLst/>
          </a:prstGeom>
          <a:ln w="11430">
            <a:solidFill>
              <a:srgbClr val="243B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5400000">
            <a:off x="5876397" y="3374136"/>
            <a:ext cx="438901" cy="246887"/>
          </a:xfrm>
          <a:prstGeom prst="triangle">
            <a:avLst/>
          </a:prstGeom>
          <a:solidFill>
            <a:srgbClr val="243B53"/>
          </a:solidFill>
          <a:ln w="1270">
            <a:solidFill>
              <a:srgbClr val="243B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831" y="3326129"/>
            <a:ext cx="1097252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730" b="0">
                <a:solidFill>
                  <a:srgbClr val="6C7280"/>
                </a:solidFill>
                <a:latin typeface="Arial"/>
              </a:rPr>
              <a:t>calibrate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5847" y="3497580"/>
            <a:ext cx="2084780" cy="0"/>
          </a:xfrm>
          <a:prstGeom prst="line">
            <a:avLst/>
          </a:prstGeom>
          <a:ln w="11430">
            <a:solidFill>
              <a:srgbClr val="243B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sosceles Triangle 13"/>
          <p:cNvSpPr/>
          <p:nvPr/>
        </p:nvSpPr>
        <p:spPr>
          <a:xfrm rot="5400000">
            <a:off x="7961176" y="3374136"/>
            <a:ext cx="438901" cy="246887"/>
          </a:xfrm>
          <a:prstGeom prst="triangle">
            <a:avLst/>
          </a:prstGeom>
          <a:solidFill>
            <a:srgbClr val="243B53"/>
          </a:solidFill>
          <a:ln w="1270">
            <a:solidFill>
              <a:srgbClr val="243B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9611" y="3326129"/>
            <a:ext cx="1097252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730" b="0">
                <a:solidFill>
                  <a:srgbClr val="6C7280"/>
                </a:solidFill>
                <a:latin typeface="Arial"/>
              </a:rPr>
              <a:t>verify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180627" y="3497580"/>
            <a:ext cx="2084780" cy="0"/>
          </a:xfrm>
          <a:prstGeom prst="line">
            <a:avLst/>
          </a:prstGeom>
          <a:ln w="11430">
            <a:solidFill>
              <a:srgbClr val="243B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5400000">
            <a:off x="10045956" y="3374136"/>
            <a:ext cx="438901" cy="246887"/>
          </a:xfrm>
          <a:prstGeom prst="triangle">
            <a:avLst/>
          </a:prstGeom>
          <a:solidFill>
            <a:srgbClr val="243B53"/>
          </a:solidFill>
          <a:ln w="1270">
            <a:solidFill>
              <a:srgbClr val="243B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74391" y="3326129"/>
            <a:ext cx="1097252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730" b="0">
                <a:solidFill>
                  <a:srgbClr val="6C7280"/>
                </a:solidFill>
                <a:latin typeface="Arial"/>
              </a:rPr>
              <a:t>deploy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5335" y="2331720"/>
            <a:ext cx="1901904" cy="2331720"/>
          </a:xfrm>
          <a:prstGeom prst="roundRect">
            <a:avLst/>
          </a:prstGeom>
          <a:solidFill>
            <a:srgbClr val="F5F7FF"/>
          </a:solidFill>
          <a:ln w="12700">
            <a:solidFill>
              <a:srgbClr val="3B5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545906" y="2798064"/>
            <a:ext cx="593394" cy="375406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3B5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1652413" y="2895996"/>
            <a:ext cx="349951" cy="0"/>
          </a:xfrm>
          <a:prstGeom prst="line">
            <a:avLst/>
          </a:prstGeom>
          <a:ln w="5715">
            <a:solidFill>
              <a:srgbClr val="3B5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652413" y="2977606"/>
            <a:ext cx="349951" cy="0"/>
          </a:xfrm>
          <a:prstGeom prst="line">
            <a:avLst/>
          </a:prstGeom>
          <a:ln w="5715">
            <a:solidFill>
              <a:srgbClr val="3B5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652413" y="3059216"/>
            <a:ext cx="349951" cy="0"/>
          </a:xfrm>
          <a:prstGeom prst="line">
            <a:avLst/>
          </a:prstGeom>
          <a:ln w="5715">
            <a:solidFill>
              <a:srgbClr val="3B5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637198" y="2879674"/>
            <a:ext cx="593394" cy="375406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3B5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1743705" y="2977606"/>
            <a:ext cx="349950" cy="0"/>
          </a:xfrm>
          <a:prstGeom prst="line">
            <a:avLst/>
          </a:prstGeom>
          <a:ln w="5715">
            <a:solidFill>
              <a:srgbClr val="3B5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743705" y="3059216"/>
            <a:ext cx="349950" cy="0"/>
          </a:xfrm>
          <a:prstGeom prst="line">
            <a:avLst/>
          </a:prstGeom>
          <a:ln w="5715">
            <a:solidFill>
              <a:srgbClr val="3B5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743705" y="3140826"/>
            <a:ext cx="349950" cy="0"/>
          </a:xfrm>
          <a:prstGeom prst="line">
            <a:avLst/>
          </a:prstGeom>
          <a:ln w="5715">
            <a:solidFill>
              <a:srgbClr val="3B5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1728489" y="2961284"/>
            <a:ext cx="593394" cy="375406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3B5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1834996" y="3059216"/>
            <a:ext cx="349950" cy="0"/>
          </a:xfrm>
          <a:prstGeom prst="line">
            <a:avLst/>
          </a:prstGeom>
          <a:ln w="5715">
            <a:solidFill>
              <a:srgbClr val="3B5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834996" y="3140826"/>
            <a:ext cx="349950" cy="0"/>
          </a:xfrm>
          <a:prstGeom prst="line">
            <a:avLst/>
          </a:prstGeom>
          <a:ln w="5715">
            <a:solidFill>
              <a:srgbClr val="3B5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834996" y="3222437"/>
            <a:ext cx="349950" cy="0"/>
          </a:xfrm>
          <a:prstGeom prst="line">
            <a:avLst/>
          </a:prstGeom>
          <a:ln w="5715">
            <a:solidFill>
              <a:srgbClr val="3B5B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1280127" y="2503170"/>
            <a:ext cx="1292319" cy="37307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50" b="1">
                <a:solidFill>
                  <a:srgbClr val="202A44"/>
                </a:solidFill>
                <a:latin typeface="Arial"/>
              </a:rPr>
              <a:t>Multimodal data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02044" y="3870655"/>
            <a:ext cx="1048485" cy="65288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40" b="0">
                <a:solidFill>
                  <a:srgbClr val="6C7280"/>
                </a:solidFill>
                <a:latin typeface="Arial"/>
              </a:rPr>
              <a:t>- Simulation
- Experiment
- Images/signals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060115" y="2331720"/>
            <a:ext cx="1901904" cy="2331720"/>
          </a:xfrm>
          <a:prstGeom prst="roundRect">
            <a:avLst/>
          </a:prstGeom>
          <a:solidFill>
            <a:srgbClr val="F5F7FF"/>
          </a:solidFill>
          <a:ln w="12700">
            <a:solidFill>
              <a:srgbClr val="F767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502688" y="2856939"/>
            <a:ext cx="82542" cy="73449"/>
          </a:xfrm>
          <a:prstGeom prst="ellipse">
            <a:avLst/>
          </a:prstGeom>
          <a:solidFill>
            <a:srgbClr val="FFFFFF"/>
          </a:solidFill>
          <a:ln w="8890">
            <a:solidFill>
              <a:srgbClr val="F767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502688" y="3192707"/>
            <a:ext cx="82542" cy="73449"/>
          </a:xfrm>
          <a:prstGeom prst="ellipse">
            <a:avLst/>
          </a:prstGeom>
          <a:solidFill>
            <a:srgbClr val="FFFFFF"/>
          </a:solidFill>
          <a:ln w="8890">
            <a:solidFill>
              <a:srgbClr val="F767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502688" y="3528475"/>
            <a:ext cx="82542" cy="73449"/>
          </a:xfrm>
          <a:prstGeom prst="ellipse">
            <a:avLst/>
          </a:prstGeom>
          <a:solidFill>
            <a:srgbClr val="FFFFFF"/>
          </a:solidFill>
          <a:ln w="8890">
            <a:solidFill>
              <a:srgbClr val="F767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950777" y="2856939"/>
            <a:ext cx="82542" cy="73449"/>
          </a:xfrm>
          <a:prstGeom prst="ellipse">
            <a:avLst/>
          </a:prstGeom>
          <a:solidFill>
            <a:srgbClr val="FFFFFF"/>
          </a:solidFill>
          <a:ln w="8890">
            <a:solidFill>
              <a:srgbClr val="F767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950777" y="3024823"/>
            <a:ext cx="82542" cy="73449"/>
          </a:xfrm>
          <a:prstGeom prst="ellipse">
            <a:avLst/>
          </a:prstGeom>
          <a:solidFill>
            <a:srgbClr val="FFFFFF"/>
          </a:solidFill>
          <a:ln w="8890">
            <a:solidFill>
              <a:srgbClr val="F767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950777" y="3192707"/>
            <a:ext cx="82542" cy="73449"/>
          </a:xfrm>
          <a:prstGeom prst="ellipse">
            <a:avLst/>
          </a:prstGeom>
          <a:solidFill>
            <a:srgbClr val="FFFFFF"/>
          </a:solidFill>
          <a:ln w="8890">
            <a:solidFill>
              <a:srgbClr val="F767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950777" y="3360591"/>
            <a:ext cx="82542" cy="73449"/>
          </a:xfrm>
          <a:prstGeom prst="ellipse">
            <a:avLst/>
          </a:prstGeom>
          <a:solidFill>
            <a:srgbClr val="FFFFFF"/>
          </a:solidFill>
          <a:ln w="8890">
            <a:solidFill>
              <a:srgbClr val="F767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950777" y="3528475"/>
            <a:ext cx="82542" cy="73449"/>
          </a:xfrm>
          <a:prstGeom prst="ellipse">
            <a:avLst/>
          </a:prstGeom>
          <a:solidFill>
            <a:srgbClr val="FFFFFF"/>
          </a:solidFill>
          <a:ln w="8890">
            <a:solidFill>
              <a:srgbClr val="F767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398866" y="2856939"/>
            <a:ext cx="82542" cy="73449"/>
          </a:xfrm>
          <a:prstGeom prst="ellipse">
            <a:avLst/>
          </a:prstGeom>
          <a:solidFill>
            <a:srgbClr val="FFFFFF"/>
          </a:solidFill>
          <a:ln w="8890">
            <a:solidFill>
              <a:srgbClr val="F767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398866" y="3080785"/>
            <a:ext cx="82542" cy="73449"/>
          </a:xfrm>
          <a:prstGeom prst="ellipse">
            <a:avLst/>
          </a:prstGeom>
          <a:solidFill>
            <a:srgbClr val="FFFFFF"/>
          </a:solidFill>
          <a:ln w="8890">
            <a:solidFill>
              <a:srgbClr val="F767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398866" y="3304630"/>
            <a:ext cx="82542" cy="73449"/>
          </a:xfrm>
          <a:prstGeom prst="ellipse">
            <a:avLst/>
          </a:prstGeom>
          <a:solidFill>
            <a:srgbClr val="FFFFFF"/>
          </a:solidFill>
          <a:ln w="8890">
            <a:solidFill>
              <a:srgbClr val="F767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398866" y="3528475"/>
            <a:ext cx="82542" cy="73449"/>
          </a:xfrm>
          <a:prstGeom prst="ellipse">
            <a:avLst/>
          </a:prstGeom>
          <a:solidFill>
            <a:srgbClr val="FFFFFF"/>
          </a:solidFill>
          <a:ln w="8890">
            <a:solidFill>
              <a:srgbClr val="F767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3543959" y="2893664"/>
            <a:ext cx="448089" cy="0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543959" y="2893664"/>
            <a:ext cx="448089" cy="167884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3543959" y="2893664"/>
            <a:ext cx="448089" cy="335768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543959" y="2893664"/>
            <a:ext cx="448089" cy="503652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3543959" y="2893664"/>
            <a:ext cx="448089" cy="671535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543959" y="2893664"/>
            <a:ext cx="448089" cy="335768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3543959" y="3061548"/>
            <a:ext cx="448089" cy="167884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543959" y="3229432"/>
            <a:ext cx="448089" cy="0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543959" y="3229432"/>
            <a:ext cx="448089" cy="167884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543959" y="3229432"/>
            <a:ext cx="448089" cy="335767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3543959" y="2893664"/>
            <a:ext cx="448089" cy="671535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3543959" y="3061548"/>
            <a:ext cx="448089" cy="503651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3543959" y="3229432"/>
            <a:ext cx="448089" cy="335767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543959" y="3397316"/>
            <a:ext cx="448089" cy="167883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543959" y="3565199"/>
            <a:ext cx="448089" cy="0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992048" y="2893664"/>
            <a:ext cx="448089" cy="0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3992048" y="2893664"/>
            <a:ext cx="448089" cy="223845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992048" y="2893664"/>
            <a:ext cx="448089" cy="447690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992048" y="2893664"/>
            <a:ext cx="448089" cy="671535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3992048" y="2893664"/>
            <a:ext cx="448089" cy="167884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3992048" y="3061548"/>
            <a:ext cx="448089" cy="55961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3992048" y="3061548"/>
            <a:ext cx="448089" cy="279806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3992048" y="3061548"/>
            <a:ext cx="448089" cy="503651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3992048" y="2893664"/>
            <a:ext cx="448089" cy="335768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3992048" y="3117509"/>
            <a:ext cx="448089" cy="111923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3992048" y="3229432"/>
            <a:ext cx="448089" cy="111922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3992048" y="3229432"/>
            <a:ext cx="448089" cy="335767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3992048" y="2893664"/>
            <a:ext cx="448089" cy="503652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3992048" y="3117509"/>
            <a:ext cx="448089" cy="279807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3992048" y="3341354"/>
            <a:ext cx="448089" cy="55962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3992048" y="3397316"/>
            <a:ext cx="448089" cy="167883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992048" y="2893664"/>
            <a:ext cx="448089" cy="671535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992048" y="3117509"/>
            <a:ext cx="448089" cy="447690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3992048" y="3341354"/>
            <a:ext cx="448089" cy="223845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992048" y="3565199"/>
            <a:ext cx="448089" cy="0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364907" y="2503170"/>
            <a:ext cx="1292319" cy="37307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50" b="1">
                <a:solidFill>
                  <a:srgbClr val="202A44"/>
                </a:solidFill>
                <a:latin typeface="Arial"/>
              </a:rPr>
              <a:t>AI surrogate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486824" y="3870655"/>
            <a:ext cx="1048485" cy="65288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40" b="0">
                <a:solidFill>
                  <a:srgbClr val="6C7280"/>
                </a:solidFill>
                <a:latin typeface="Arial"/>
              </a:rPr>
              <a:t>- Learns field response
- Editable network glyph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144895" y="2331720"/>
            <a:ext cx="1901904" cy="2331720"/>
          </a:xfrm>
          <a:prstGeom prst="roundRect">
            <a:avLst/>
          </a:prstGeom>
          <a:solidFill>
            <a:srgbClr val="F5F7FF"/>
          </a:solidFill>
          <a:ln w="12700"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Arc 84"/>
          <p:cNvSpPr/>
          <p:nvPr/>
        </p:nvSpPr>
        <p:spPr>
          <a:xfrm>
            <a:off x="5821212" y="2881073"/>
            <a:ext cx="511231" cy="626766"/>
          </a:xfrm>
          <a:prstGeom prst="arc">
            <a:avLst/>
          </a:prstGeom>
          <a:noFill/>
          <a:ln w="15240">
            <a:solidFill>
              <a:srgbClr val="3B5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Arc 85"/>
          <p:cNvSpPr/>
          <p:nvPr/>
        </p:nvSpPr>
        <p:spPr>
          <a:xfrm rot="5400000">
            <a:off x="5821212" y="2881073"/>
            <a:ext cx="511231" cy="626766"/>
          </a:xfrm>
          <a:prstGeom prst="arc">
            <a:avLst/>
          </a:prstGeom>
          <a:noFill/>
          <a:ln w="15240">
            <a:solidFill>
              <a:srgbClr val="3B5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Arc 86"/>
          <p:cNvSpPr/>
          <p:nvPr/>
        </p:nvSpPr>
        <p:spPr>
          <a:xfrm rot="10800000">
            <a:off x="5821212" y="2881073"/>
            <a:ext cx="511231" cy="626766"/>
          </a:xfrm>
          <a:prstGeom prst="arc">
            <a:avLst/>
          </a:prstGeom>
          <a:noFill/>
          <a:ln w="15240">
            <a:solidFill>
              <a:srgbClr val="3B5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Arc 87"/>
          <p:cNvSpPr/>
          <p:nvPr/>
        </p:nvSpPr>
        <p:spPr>
          <a:xfrm rot="16200000">
            <a:off x="5821212" y="2881073"/>
            <a:ext cx="511231" cy="626766"/>
          </a:xfrm>
          <a:prstGeom prst="arc">
            <a:avLst/>
          </a:prstGeom>
          <a:noFill/>
          <a:ln w="15240">
            <a:solidFill>
              <a:srgbClr val="3B5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5980972" y="3076937"/>
            <a:ext cx="191711" cy="235037"/>
          </a:xfrm>
          <a:prstGeom prst="ellipse">
            <a:avLst/>
          </a:prstGeom>
          <a:solidFill>
            <a:srgbClr val="F5F7FF"/>
          </a:solidFill>
          <a:ln w="8890">
            <a:solidFill>
              <a:srgbClr val="F767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020912" y="2812520"/>
            <a:ext cx="111831" cy="137105"/>
          </a:xfrm>
          <a:prstGeom prst="ellipse">
            <a:avLst/>
          </a:prstGeom>
          <a:solidFill>
            <a:srgbClr val="FFFFFF"/>
          </a:solidFill>
          <a:ln w="8890">
            <a:solidFill>
              <a:srgbClr val="3B5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24906" y="2856590"/>
            <a:ext cx="103843" cy="4896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560" b="0">
                <a:solidFill>
                  <a:srgbClr val="202A44"/>
                </a:solidFill>
                <a:latin typeface="Arial"/>
              </a:rPr>
              <a:t>Design</a:t>
            </a:r>
          </a:p>
        </p:txBody>
      </p:sp>
      <p:sp>
        <p:nvSpPr>
          <p:cNvPr id="92" name="Oval 91"/>
          <p:cNvSpPr/>
          <p:nvPr/>
        </p:nvSpPr>
        <p:spPr>
          <a:xfrm>
            <a:off x="6242282" y="3282595"/>
            <a:ext cx="111831" cy="137105"/>
          </a:xfrm>
          <a:prstGeom prst="ellipse">
            <a:avLst/>
          </a:prstGeom>
          <a:solidFill>
            <a:srgbClr val="FFFFFF"/>
          </a:solidFill>
          <a:ln w="8890">
            <a:solidFill>
              <a:srgbClr val="3B5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246276" y="3326664"/>
            <a:ext cx="103843" cy="4896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560" b="0">
                <a:solidFill>
                  <a:srgbClr val="202A44"/>
                </a:solidFill>
                <a:latin typeface="Arial"/>
              </a:rPr>
              <a:t>Sim</a:t>
            </a:r>
          </a:p>
        </p:txBody>
      </p:sp>
      <p:sp>
        <p:nvSpPr>
          <p:cNvPr id="94" name="Oval 93"/>
          <p:cNvSpPr/>
          <p:nvPr/>
        </p:nvSpPr>
        <p:spPr>
          <a:xfrm>
            <a:off x="5799542" y="3282595"/>
            <a:ext cx="111831" cy="137105"/>
          </a:xfrm>
          <a:prstGeom prst="ellipse">
            <a:avLst/>
          </a:prstGeom>
          <a:solidFill>
            <a:srgbClr val="FFFFFF"/>
          </a:solidFill>
          <a:ln w="8890">
            <a:solidFill>
              <a:srgbClr val="3B5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803536" y="3326664"/>
            <a:ext cx="103843" cy="4896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560" b="0">
                <a:solidFill>
                  <a:srgbClr val="202A44"/>
                </a:solidFill>
                <a:latin typeface="Arial"/>
              </a:rPr>
              <a:t>Update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49687" y="2503170"/>
            <a:ext cx="1292319" cy="37307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50" b="1">
                <a:solidFill>
                  <a:srgbClr val="202A44"/>
                </a:solidFill>
                <a:latin typeface="Arial"/>
              </a:rPr>
              <a:t>Physics closure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571604" y="3870655"/>
            <a:ext cx="1048485" cy="65288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40" b="0">
                <a:solidFill>
                  <a:srgbClr val="6C7280"/>
                </a:solidFill>
                <a:latin typeface="Arial"/>
              </a:rPr>
              <a:t>- Constraints
- Residual checks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229675" y="2331720"/>
            <a:ext cx="1901904" cy="2331720"/>
          </a:xfrm>
          <a:prstGeom prst="roundRect">
            <a:avLst/>
          </a:prstGeom>
          <a:solidFill>
            <a:srgbClr val="F5F7FF"/>
          </a:solidFill>
          <a:ln w="12700"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9" name="Connector 98"/>
          <p:cNvCxnSpPr/>
          <p:nvPr/>
        </p:nvCxnSpPr>
        <p:spPr>
          <a:xfrm>
            <a:off x="7804811" y="3575925"/>
            <a:ext cx="771412" cy="0"/>
          </a:xfrm>
          <a:prstGeom prst="line">
            <a:avLst/>
          </a:prstGeom>
          <a:ln w="7620">
            <a:solidFill>
              <a:srgbClr val="243B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ectangle 99"/>
          <p:cNvSpPr/>
          <p:nvPr/>
        </p:nvSpPr>
        <p:spPr>
          <a:xfrm>
            <a:off x="7883930" y="3173004"/>
            <a:ext cx="98899" cy="402921"/>
          </a:xfrm>
          <a:prstGeom prst="rect">
            <a:avLst/>
          </a:prstGeom>
          <a:solidFill>
            <a:srgbClr val="D9E2EC"/>
          </a:solidFill>
          <a:ln w="254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022389" y="2993928"/>
            <a:ext cx="98899" cy="581997"/>
          </a:xfrm>
          <a:prstGeom prst="rect">
            <a:avLst/>
          </a:prstGeom>
          <a:solidFill>
            <a:srgbClr val="D9E2EC"/>
          </a:solidFill>
          <a:ln w="254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160847" y="2792467"/>
            <a:ext cx="98899" cy="783457"/>
          </a:xfrm>
          <a:prstGeom prst="rect">
            <a:avLst/>
          </a:prstGeom>
          <a:solidFill>
            <a:srgbClr val="20C997"/>
          </a:solidFill>
          <a:ln w="2540"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534467" y="2503170"/>
            <a:ext cx="1292319" cy="37307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50" b="1">
                <a:solidFill>
                  <a:srgbClr val="202A44"/>
                </a:solidFill>
                <a:latin typeface="Arial"/>
              </a:rPr>
              <a:t>Validated output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656384" y="3870655"/>
            <a:ext cx="1048485" cy="65288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40" b="0">
                <a:solidFill>
                  <a:srgbClr val="6C7280"/>
                </a:solidFill>
                <a:latin typeface="Arial"/>
              </a:rPr>
              <a:t>- Only verified metrics
- No invented numbers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9314455" y="2331720"/>
            <a:ext cx="1901904" cy="2331720"/>
          </a:xfrm>
          <a:prstGeom prst="roundRect">
            <a:avLst/>
          </a:prstGeom>
          <a:solidFill>
            <a:srgbClr val="F5F7FF"/>
          </a:solidFill>
          <a:ln w="12700"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9805146" y="2844698"/>
            <a:ext cx="882483" cy="606247"/>
          </a:xfrm>
          <a:prstGeom prst="roundRect">
            <a:avLst/>
          </a:prstGeom>
          <a:solidFill>
            <a:srgbClr val="F5F7FF"/>
          </a:solidFill>
          <a:ln w="10160">
            <a:solidFill>
              <a:srgbClr val="3B5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7" name="Connector 106"/>
          <p:cNvCxnSpPr/>
          <p:nvPr/>
        </p:nvCxnSpPr>
        <p:spPr>
          <a:xfrm flipV="1">
            <a:off x="9893394" y="2984601"/>
            <a:ext cx="88249" cy="349758"/>
          </a:xfrm>
          <a:prstGeom prst="line">
            <a:avLst/>
          </a:prstGeom>
          <a:ln w="11430">
            <a:solidFill>
              <a:srgbClr val="20C9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Isosceles Triangle 107"/>
          <p:cNvSpPr/>
          <p:nvPr/>
        </p:nvSpPr>
        <p:spPr>
          <a:xfrm rot="484680">
            <a:off x="9762192" y="2861157"/>
            <a:ext cx="438901" cy="246887"/>
          </a:xfrm>
          <a:prstGeom prst="triangle">
            <a:avLst/>
          </a:prstGeom>
          <a:solidFill>
            <a:srgbClr val="20C997"/>
          </a:solidFill>
          <a:ln w="1270"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9" name="Connector 108"/>
          <p:cNvCxnSpPr/>
          <p:nvPr/>
        </p:nvCxnSpPr>
        <p:spPr>
          <a:xfrm flipV="1">
            <a:off x="10047829" y="2984601"/>
            <a:ext cx="88248" cy="349758"/>
          </a:xfrm>
          <a:prstGeom prst="line">
            <a:avLst/>
          </a:prstGeom>
          <a:ln w="11430">
            <a:solidFill>
              <a:srgbClr val="F7670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Isosceles Triangle 109"/>
          <p:cNvSpPr/>
          <p:nvPr/>
        </p:nvSpPr>
        <p:spPr>
          <a:xfrm rot="484680">
            <a:off x="9916627" y="2861157"/>
            <a:ext cx="438901" cy="246887"/>
          </a:xfrm>
          <a:prstGeom prst="triangle">
            <a:avLst/>
          </a:prstGeom>
          <a:solidFill>
            <a:srgbClr val="F76707"/>
          </a:solidFill>
          <a:ln w="1270">
            <a:solidFill>
              <a:srgbClr val="F767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1" name="Connector 110"/>
          <p:cNvCxnSpPr/>
          <p:nvPr/>
        </p:nvCxnSpPr>
        <p:spPr>
          <a:xfrm flipV="1">
            <a:off x="10202264" y="2984601"/>
            <a:ext cx="88248" cy="349758"/>
          </a:xfrm>
          <a:prstGeom prst="line">
            <a:avLst/>
          </a:prstGeom>
          <a:ln w="11430">
            <a:solidFill>
              <a:srgbClr val="20C9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Isosceles Triangle 111"/>
          <p:cNvSpPr/>
          <p:nvPr/>
        </p:nvSpPr>
        <p:spPr>
          <a:xfrm rot="484680">
            <a:off x="10071061" y="2861157"/>
            <a:ext cx="438901" cy="246887"/>
          </a:xfrm>
          <a:prstGeom prst="triangle">
            <a:avLst/>
          </a:prstGeom>
          <a:solidFill>
            <a:srgbClr val="20C997"/>
          </a:solidFill>
          <a:ln w="1270"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3" name="Connector 112"/>
          <p:cNvCxnSpPr/>
          <p:nvPr/>
        </p:nvCxnSpPr>
        <p:spPr>
          <a:xfrm flipV="1">
            <a:off x="10356698" y="2984601"/>
            <a:ext cx="88249" cy="349758"/>
          </a:xfrm>
          <a:prstGeom prst="line">
            <a:avLst/>
          </a:prstGeom>
          <a:ln w="11430">
            <a:solidFill>
              <a:srgbClr val="F7670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Isosceles Triangle 113"/>
          <p:cNvSpPr/>
          <p:nvPr/>
        </p:nvSpPr>
        <p:spPr>
          <a:xfrm rot="484680">
            <a:off x="10225496" y="2861157"/>
            <a:ext cx="438901" cy="246887"/>
          </a:xfrm>
          <a:prstGeom prst="triangle">
            <a:avLst/>
          </a:prstGeom>
          <a:solidFill>
            <a:srgbClr val="F76707"/>
          </a:solidFill>
          <a:ln w="1270">
            <a:solidFill>
              <a:srgbClr val="F767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5" name="Connector 114"/>
          <p:cNvCxnSpPr/>
          <p:nvPr/>
        </p:nvCxnSpPr>
        <p:spPr>
          <a:xfrm flipV="1">
            <a:off x="10511133" y="2984601"/>
            <a:ext cx="88248" cy="349758"/>
          </a:xfrm>
          <a:prstGeom prst="line">
            <a:avLst/>
          </a:prstGeom>
          <a:ln w="11430">
            <a:solidFill>
              <a:srgbClr val="20C9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Isosceles Triangle 115"/>
          <p:cNvSpPr/>
          <p:nvPr/>
        </p:nvSpPr>
        <p:spPr>
          <a:xfrm rot="484680">
            <a:off x="10379931" y="2861157"/>
            <a:ext cx="438901" cy="246887"/>
          </a:xfrm>
          <a:prstGeom prst="triangle">
            <a:avLst/>
          </a:prstGeom>
          <a:solidFill>
            <a:srgbClr val="20C997"/>
          </a:solidFill>
          <a:ln w="1270"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9915456" y="3485921"/>
            <a:ext cx="110310" cy="139903"/>
          </a:xfrm>
          <a:prstGeom prst="ellipse">
            <a:avLst/>
          </a:prstGeom>
          <a:solidFill>
            <a:srgbClr val="FFFFFF"/>
          </a:solidFill>
          <a:ln w="7620">
            <a:solidFill>
              <a:srgbClr val="3B5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9915456" y="3515067"/>
            <a:ext cx="110310" cy="52463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650" b="1">
                <a:solidFill>
                  <a:srgbClr val="202A44"/>
                </a:solidFill>
                <a:latin typeface="Arial"/>
              </a:rPr>
              <a:t>RE</a:t>
            </a:r>
          </a:p>
        </p:txBody>
      </p:sp>
      <p:sp>
        <p:nvSpPr>
          <p:cNvPr id="119" name="Oval 118"/>
          <p:cNvSpPr/>
          <p:nvPr/>
        </p:nvSpPr>
        <p:spPr>
          <a:xfrm>
            <a:off x="10136077" y="3485921"/>
            <a:ext cx="110310" cy="139903"/>
          </a:xfrm>
          <a:prstGeom prst="ellipse">
            <a:avLst/>
          </a:prstGeom>
          <a:solidFill>
            <a:srgbClr val="FFFFFF"/>
          </a:solidFill>
          <a:ln w="7620">
            <a:solidFill>
              <a:srgbClr val="3B5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0136077" y="3515067"/>
            <a:ext cx="110310" cy="52463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650" b="1">
                <a:solidFill>
                  <a:srgbClr val="202A44"/>
                </a:solidFill>
                <a:latin typeface="Arial"/>
              </a:rPr>
              <a:t>Fe</a:t>
            </a:r>
          </a:p>
        </p:txBody>
      </p:sp>
      <p:sp>
        <p:nvSpPr>
          <p:cNvPr id="121" name="Oval 120"/>
          <p:cNvSpPr/>
          <p:nvPr/>
        </p:nvSpPr>
        <p:spPr>
          <a:xfrm>
            <a:off x="10356698" y="3485921"/>
            <a:ext cx="110310" cy="139903"/>
          </a:xfrm>
          <a:prstGeom prst="ellipse">
            <a:avLst/>
          </a:prstGeom>
          <a:solidFill>
            <a:srgbClr val="FFFFFF"/>
          </a:solidFill>
          <a:ln w="7620">
            <a:solidFill>
              <a:srgbClr val="3B5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0356698" y="3515067"/>
            <a:ext cx="110310" cy="52463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650" b="1">
                <a:solidFill>
                  <a:srgbClr val="202A44"/>
                </a:solidFill>
                <a:latin typeface="Arial"/>
              </a:rPr>
              <a:t>B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619247" y="2503170"/>
            <a:ext cx="1292319" cy="37307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50" b="1">
                <a:solidFill>
                  <a:srgbClr val="202A44"/>
                </a:solidFill>
                <a:latin typeface="Arial"/>
              </a:rPr>
              <a:t>Design decision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9741164" y="3870655"/>
            <a:ext cx="1048485" cy="65288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40" b="0">
                <a:solidFill>
                  <a:srgbClr val="6C7280"/>
                </a:solidFill>
                <a:latin typeface="Arial"/>
              </a:rPr>
              <a:t>- Screen candidates
- Guide experiments</a:t>
            </a:r>
          </a:p>
        </p:txBody>
      </p:sp>
      <p:sp>
        <p:nvSpPr>
          <p:cNvPr id="125" name="Oval 124"/>
          <p:cNvSpPr/>
          <p:nvPr/>
        </p:nvSpPr>
        <p:spPr>
          <a:xfrm>
            <a:off x="4969334" y="1464868"/>
            <a:ext cx="482791" cy="230428"/>
          </a:xfrm>
          <a:prstGeom prst="ellipse">
            <a:avLst/>
          </a:prstGeom>
          <a:solidFill>
            <a:srgbClr val="FFFFFF"/>
          </a:solidFill>
          <a:ln w="10160"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4969334" y="1547164"/>
            <a:ext cx="482791" cy="411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580" b="0">
                <a:solidFill>
                  <a:srgbClr val="202A44"/>
                </a:solidFill>
                <a:latin typeface="Arial"/>
              </a:rPr>
              <a:t>micro</a:t>
            </a:r>
          </a:p>
        </p:txBody>
      </p:sp>
      <p:cxnSp>
        <p:nvCxnSpPr>
          <p:cNvPr id="127" name="Connector 126"/>
          <p:cNvCxnSpPr/>
          <p:nvPr/>
        </p:nvCxnSpPr>
        <p:spPr>
          <a:xfrm>
            <a:off x="5452126" y="1580083"/>
            <a:ext cx="268217" cy="0"/>
          </a:xfrm>
          <a:prstGeom prst="line">
            <a:avLst/>
          </a:prstGeom>
          <a:ln w="8890">
            <a:solidFill>
              <a:srgbClr val="243B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Isosceles Triangle 127"/>
          <p:cNvSpPr/>
          <p:nvPr/>
        </p:nvSpPr>
        <p:spPr>
          <a:xfrm rot="5400000">
            <a:off x="5500892" y="1456639"/>
            <a:ext cx="438901" cy="246887"/>
          </a:xfrm>
          <a:prstGeom prst="triangle">
            <a:avLst/>
          </a:prstGeom>
          <a:solidFill>
            <a:srgbClr val="243B53"/>
          </a:solidFill>
          <a:ln w="1270">
            <a:solidFill>
              <a:srgbClr val="243B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5720343" y="1464868"/>
            <a:ext cx="482791" cy="230428"/>
          </a:xfrm>
          <a:prstGeom prst="ellipse">
            <a:avLst/>
          </a:prstGeom>
          <a:solidFill>
            <a:srgbClr val="FFFFFF"/>
          </a:solidFill>
          <a:ln w="10160"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5720343" y="1547164"/>
            <a:ext cx="482791" cy="411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580" b="0">
                <a:solidFill>
                  <a:srgbClr val="202A44"/>
                </a:solidFill>
                <a:latin typeface="Arial"/>
              </a:rPr>
              <a:t>meso</a:t>
            </a:r>
          </a:p>
        </p:txBody>
      </p:sp>
      <p:cxnSp>
        <p:nvCxnSpPr>
          <p:cNvPr id="131" name="Connector 130"/>
          <p:cNvCxnSpPr/>
          <p:nvPr/>
        </p:nvCxnSpPr>
        <p:spPr>
          <a:xfrm>
            <a:off x="6203134" y="1580083"/>
            <a:ext cx="268217" cy="0"/>
          </a:xfrm>
          <a:prstGeom prst="line">
            <a:avLst/>
          </a:prstGeom>
          <a:ln w="8890">
            <a:solidFill>
              <a:srgbClr val="243B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Isosceles Triangle 131"/>
          <p:cNvSpPr/>
          <p:nvPr/>
        </p:nvSpPr>
        <p:spPr>
          <a:xfrm rot="5400000">
            <a:off x="6251901" y="1456639"/>
            <a:ext cx="438901" cy="246887"/>
          </a:xfrm>
          <a:prstGeom prst="triangle">
            <a:avLst/>
          </a:prstGeom>
          <a:solidFill>
            <a:srgbClr val="243B53"/>
          </a:solidFill>
          <a:ln w="1270">
            <a:solidFill>
              <a:srgbClr val="243B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6471351" y="1464868"/>
            <a:ext cx="482791" cy="230428"/>
          </a:xfrm>
          <a:prstGeom prst="ellipse">
            <a:avLst/>
          </a:prstGeom>
          <a:solidFill>
            <a:srgbClr val="FFFFFF"/>
          </a:solidFill>
          <a:ln w="10160">
            <a:solidFill>
              <a:srgbClr val="3B5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471351" y="1547164"/>
            <a:ext cx="482791" cy="411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580" b="0">
                <a:solidFill>
                  <a:srgbClr val="202A44"/>
                </a:solidFill>
                <a:latin typeface="Arial"/>
              </a:rPr>
              <a:t>macro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754761" y="1909267"/>
            <a:ext cx="2682172" cy="131673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750" b="0">
                <a:solidFill>
                  <a:srgbClr val="6C7280"/>
                </a:solidFill>
                <a:latin typeface="Arial"/>
              </a:rPr>
              <a:t>scale bridge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1463003" y="5897880"/>
            <a:ext cx="9265688" cy="5143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767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706837" y="6000750"/>
            <a:ext cx="87780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50" b="1">
                <a:solidFill>
                  <a:srgbClr val="202A44"/>
                </a:solidFill>
                <a:latin typeface="Arial"/>
              </a:rPr>
              <a:t>Physics constraints convert AI predictions into traceable scientific decisions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17219"/>
          </a:xfrm>
          <a:prstGeom prst="rect">
            <a:avLst/>
          </a:prstGeom>
          <a:solidFill>
            <a:srgbClr val="F5F7FF"/>
          </a:solidFill>
          <a:ln>
            <a:solidFill>
              <a:srgbClr val="F5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01" y="411479"/>
            <a:ext cx="10728691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000" b="1">
                <a:solidFill>
                  <a:srgbClr val="202A44"/>
                </a:solidFill>
                <a:latin typeface="Arial"/>
              </a:rPr>
              <a:t>Generation notes and provenance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5335" y="1234439"/>
            <a:ext cx="10241023" cy="4800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202A44"/>
                </a:solidFill>
                <a:latin typeface="Arial"/>
              </a:rPr>
              <a:t>Abstract content brief
main_process: Multimodal experimental or simulation data are curated, passed through an AI model, constrained by physics knowledge, and transformed into validated decisions for scientific design.
visual_objects: dataset; neural network; physics constraint; performance chart; application decision
method_or_model: Physics-guided neural operator / machine-learning surrogate model
mechanism: Physics constraints calibrate model outputs and suppress unsupported predictions.
key_result: Improved reliability and interpretability should be shown only as a schematic unless verified metrics are supplied.
application: Scientific design, simulation acceleration, and decision support.
source_figures_to_redraw: workflow figure; model architecture; verified result plot
forbidden_content: invented numerical gains; unprovided architecture layers; fake benchmark labels
Prompt confirmation
{
  "decision": "accepted_all",
  "accepted_items": [
    "claim",
    "layout",
    "palette",
    "vector_redraw",
    "unsupported_content_exclusion"
  ],
  "user_confirmed": true
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17219"/>
          </a:xfrm>
          <a:prstGeom prst="rect">
            <a:avLst/>
          </a:prstGeom>
          <a:solidFill>
            <a:srgbClr val="F5F7FF"/>
          </a:solidFill>
          <a:ln>
            <a:solidFill>
              <a:srgbClr val="F5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01" y="411479"/>
            <a:ext cx="10728691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000" b="1">
                <a:solidFill>
                  <a:srgbClr val="202A44"/>
                </a:solidFill>
                <a:latin typeface="Arial"/>
              </a:rPr>
              <a:t>Quality gates</a:t>
            </a:r>
          </a:p>
        </p:txBody>
      </p:sp>
      <p:sp>
        <p:nvSpPr>
          <p:cNvPr id="5" name="Oval 4"/>
          <p:cNvSpPr/>
          <p:nvPr/>
        </p:nvSpPr>
        <p:spPr>
          <a:xfrm>
            <a:off x="1097252" y="1234439"/>
            <a:ext cx="304792" cy="308609"/>
          </a:xfrm>
          <a:prstGeom prst="ellipse">
            <a:avLst/>
          </a:prstGeom>
          <a:solidFill>
            <a:srgbClr val="20C997"/>
          </a:solidFill>
          <a:ln w="2540"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84920" y="1207007"/>
            <a:ext cx="9021854" cy="37719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50" b="0">
                <a:solidFill>
                  <a:srgbClr val="202A44"/>
                </a:solidFill>
                <a:latin typeface="Arial"/>
              </a:rPr>
              <a:t>Q0 content brief sufficient</a:t>
            </a:r>
          </a:p>
        </p:txBody>
      </p:sp>
      <p:sp>
        <p:nvSpPr>
          <p:cNvPr id="7" name="Oval 6"/>
          <p:cNvSpPr/>
          <p:nvPr/>
        </p:nvSpPr>
        <p:spPr>
          <a:xfrm>
            <a:off x="1097252" y="1714500"/>
            <a:ext cx="304792" cy="308609"/>
          </a:xfrm>
          <a:prstGeom prst="ellipse">
            <a:avLst/>
          </a:prstGeom>
          <a:solidFill>
            <a:srgbClr val="20C997"/>
          </a:solidFill>
          <a:ln w="2540"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84920" y="1687068"/>
            <a:ext cx="9021854" cy="37719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50" b="0">
                <a:solidFill>
                  <a:srgbClr val="202A44"/>
                </a:solidFill>
                <a:latin typeface="Arial"/>
              </a:rPr>
              <a:t>Q1 visible claims traceable</a:t>
            </a:r>
          </a:p>
        </p:txBody>
      </p:sp>
      <p:sp>
        <p:nvSpPr>
          <p:cNvPr id="9" name="Oval 8"/>
          <p:cNvSpPr/>
          <p:nvPr/>
        </p:nvSpPr>
        <p:spPr>
          <a:xfrm>
            <a:off x="1097252" y="2194560"/>
            <a:ext cx="304792" cy="308609"/>
          </a:xfrm>
          <a:prstGeom prst="ellipse">
            <a:avLst/>
          </a:prstGeom>
          <a:solidFill>
            <a:srgbClr val="20C997"/>
          </a:solidFill>
          <a:ln w="2540"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84920" y="2167128"/>
            <a:ext cx="9021854" cy="37719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50" b="0">
                <a:solidFill>
                  <a:srgbClr val="202A44"/>
                </a:solidFill>
                <a:latin typeface="Arial"/>
              </a:rPr>
              <a:t>Q2 one central visual story</a:t>
            </a:r>
          </a:p>
        </p:txBody>
      </p:sp>
      <p:sp>
        <p:nvSpPr>
          <p:cNvPr id="11" name="Oval 10"/>
          <p:cNvSpPr/>
          <p:nvPr/>
        </p:nvSpPr>
        <p:spPr>
          <a:xfrm>
            <a:off x="1097252" y="2674620"/>
            <a:ext cx="304792" cy="308609"/>
          </a:xfrm>
          <a:prstGeom prst="ellipse">
            <a:avLst/>
          </a:prstGeom>
          <a:solidFill>
            <a:srgbClr val="20C997"/>
          </a:solidFill>
          <a:ln w="2540"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84920" y="2647188"/>
            <a:ext cx="9021854" cy="37719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50" b="0">
                <a:solidFill>
                  <a:srgbClr val="202A44"/>
                </a:solidFill>
                <a:latin typeface="Arial"/>
              </a:rPr>
              <a:t>Q3 editable vector construction</a:t>
            </a:r>
          </a:p>
        </p:txBody>
      </p:sp>
      <p:sp>
        <p:nvSpPr>
          <p:cNvPr id="13" name="Oval 12"/>
          <p:cNvSpPr/>
          <p:nvPr/>
        </p:nvSpPr>
        <p:spPr>
          <a:xfrm>
            <a:off x="1097252" y="3154680"/>
            <a:ext cx="304792" cy="308609"/>
          </a:xfrm>
          <a:prstGeom prst="ellipse">
            <a:avLst/>
          </a:prstGeom>
          <a:solidFill>
            <a:srgbClr val="20C997"/>
          </a:solidFill>
          <a:ln w="2540"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84920" y="3127248"/>
            <a:ext cx="9021854" cy="37719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50" b="0">
                <a:solidFill>
                  <a:srgbClr val="202A44"/>
                </a:solidFill>
                <a:latin typeface="Arial"/>
              </a:rPr>
              <a:t>Q4 typography and language discipline</a:t>
            </a:r>
          </a:p>
        </p:txBody>
      </p:sp>
      <p:sp>
        <p:nvSpPr>
          <p:cNvPr id="15" name="Oval 14"/>
          <p:cNvSpPr/>
          <p:nvPr/>
        </p:nvSpPr>
        <p:spPr>
          <a:xfrm>
            <a:off x="1097252" y="3634740"/>
            <a:ext cx="304792" cy="308609"/>
          </a:xfrm>
          <a:prstGeom prst="ellipse">
            <a:avLst/>
          </a:prstGeom>
          <a:solidFill>
            <a:srgbClr val="20C997"/>
          </a:solidFill>
          <a:ln w="2540"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84920" y="3607308"/>
            <a:ext cx="9021854" cy="37719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50" b="0">
                <a:solidFill>
                  <a:srgbClr val="202A44"/>
                </a:solidFill>
                <a:latin typeface="Arial"/>
              </a:rPr>
              <a:t>Q5 palette and contrast consistency</a:t>
            </a:r>
          </a:p>
        </p:txBody>
      </p:sp>
      <p:sp>
        <p:nvSpPr>
          <p:cNvPr id="17" name="Oval 16"/>
          <p:cNvSpPr/>
          <p:nvPr/>
        </p:nvSpPr>
        <p:spPr>
          <a:xfrm>
            <a:off x="1097252" y="4114800"/>
            <a:ext cx="304792" cy="308609"/>
          </a:xfrm>
          <a:prstGeom prst="ellipse">
            <a:avLst/>
          </a:prstGeom>
          <a:solidFill>
            <a:srgbClr val="20C997"/>
          </a:solidFill>
          <a:ln w="2540"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84920" y="4087368"/>
            <a:ext cx="9021854" cy="37719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50" b="0">
                <a:solidFill>
                  <a:srgbClr val="202A44"/>
                </a:solidFill>
                <a:latin typeface="Arial"/>
              </a:rPr>
              <a:t>Q6 no raster/media/OLE/external assets</a:t>
            </a:r>
          </a:p>
        </p:txBody>
      </p:sp>
      <p:sp>
        <p:nvSpPr>
          <p:cNvPr id="19" name="Oval 18"/>
          <p:cNvSpPr/>
          <p:nvPr/>
        </p:nvSpPr>
        <p:spPr>
          <a:xfrm>
            <a:off x="1097252" y="4594860"/>
            <a:ext cx="304792" cy="308609"/>
          </a:xfrm>
          <a:prstGeom prst="ellipse">
            <a:avLst/>
          </a:prstGeom>
          <a:solidFill>
            <a:srgbClr val="20C997"/>
          </a:solidFill>
          <a:ln w="2540"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84920" y="4567428"/>
            <a:ext cx="9021854" cy="37719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50" b="0">
                <a:solidFill>
                  <a:srgbClr val="202A44"/>
                </a:solidFill>
                <a:latin typeface="Arial"/>
              </a:rPr>
              <a:t>Q7 requested package complete</a:t>
            </a:r>
          </a:p>
        </p:txBody>
      </p:sp>
      <p:sp>
        <p:nvSpPr>
          <p:cNvPr id="21" name="Oval 20"/>
          <p:cNvSpPr/>
          <p:nvPr/>
        </p:nvSpPr>
        <p:spPr>
          <a:xfrm>
            <a:off x="1097252" y="5074920"/>
            <a:ext cx="304792" cy="308609"/>
          </a:xfrm>
          <a:prstGeom prst="ellipse">
            <a:avLst/>
          </a:prstGeom>
          <a:solidFill>
            <a:srgbClr val="20C997"/>
          </a:solidFill>
          <a:ln w="2540"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84920" y="5047488"/>
            <a:ext cx="9021854" cy="37719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50" b="0">
                <a:solidFill>
                  <a:srgbClr val="202A44"/>
                </a:solidFill>
                <a:latin typeface="Arial"/>
              </a:rPr>
              <a:t>Q8 palette preview available when needed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70543" y="240030"/>
            <a:ext cx="8778020" cy="4114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000" b="1">
                <a:solidFill>
                  <a:srgbClr val="111827"/>
                </a:solidFill>
                <a:latin typeface="Arial"/>
              </a:rPr>
              <a:t>Palette strip preview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43" y="685800"/>
            <a:ext cx="10484857" cy="30860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>
                <a:solidFill>
                  <a:srgbClr val="52616B"/>
                </a:solidFill>
                <a:latin typeface="Arial"/>
              </a:rPr>
              <a:t>Order: background, neutral, primary, secondary, accent, line, text. All swatches are editable vector rectangles.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543" y="1275588"/>
            <a:ext cx="2438339" cy="31889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19" b="1">
                <a:solidFill>
                  <a:srgbClr val="111827"/>
                </a:solidFill>
                <a:latin typeface="Arial"/>
              </a:rPr>
              <a:t>nature_blue</a:t>
            </a:r>
          </a:p>
        </p:txBody>
      </p:sp>
      <p:sp>
        <p:nvSpPr>
          <p:cNvPr id="6" name="Rectangle 5"/>
          <p:cNvSpPr/>
          <p:nvPr/>
        </p:nvSpPr>
        <p:spPr>
          <a:xfrm>
            <a:off x="3230799" y="1234439"/>
            <a:ext cx="914377" cy="425196"/>
          </a:xfrm>
          <a:prstGeom prst="rect">
            <a:avLst/>
          </a:prstGeom>
          <a:solidFill>
            <a:srgbClr val="FFFFFF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30518" y="1234439"/>
            <a:ext cx="914377" cy="425196"/>
          </a:xfrm>
          <a:prstGeom prst="rect">
            <a:avLst/>
          </a:prstGeom>
          <a:solidFill>
            <a:srgbClr val="F4F8FB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230237" y="1234439"/>
            <a:ext cx="914377" cy="425196"/>
          </a:xfrm>
          <a:prstGeom prst="rect">
            <a:avLst/>
          </a:prstGeom>
          <a:solidFill>
            <a:srgbClr val="1F6B99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29956" y="1234439"/>
            <a:ext cx="914377" cy="425196"/>
          </a:xfrm>
          <a:prstGeom prst="rect">
            <a:avLst/>
          </a:prstGeom>
          <a:solidFill>
            <a:srgbClr val="3BA7C9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229675" y="1234439"/>
            <a:ext cx="914377" cy="425196"/>
          </a:xfrm>
          <a:prstGeom prst="rect">
            <a:avLst/>
          </a:prstGeom>
          <a:solidFill>
            <a:srgbClr val="F28E2B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394" y="1234439"/>
            <a:ext cx="914377" cy="425196"/>
          </a:xfrm>
          <a:prstGeom prst="rect">
            <a:avLst/>
          </a:prstGeom>
          <a:solidFill>
            <a:srgbClr val="2B3A42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229113" y="1234439"/>
            <a:ext cx="914377" cy="425196"/>
          </a:xfrm>
          <a:prstGeom prst="rect">
            <a:avLst/>
          </a:prstGeom>
          <a:solidFill>
            <a:srgbClr val="1F2933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84857" y="1282446"/>
            <a:ext cx="1463003" cy="30614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0" b="0">
                <a:solidFill>
                  <a:srgbClr val="374151"/>
                </a:solidFill>
                <a:latin typeface="Arial"/>
              </a:rPr>
              <a:t>#FFFFFF  #F4F8FB  #1F6B99  #3BA7C9  #F28E2B  #2B3A42  #1F2933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0543" y="1783080"/>
            <a:ext cx="2438339" cy="31889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19" b="1">
                <a:solidFill>
                  <a:srgbClr val="111827"/>
                </a:solidFill>
                <a:latin typeface="Arial"/>
              </a:rPr>
              <a:t>science_graphite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30799" y="1741932"/>
            <a:ext cx="914377" cy="425196"/>
          </a:xfrm>
          <a:prstGeom prst="rect">
            <a:avLst/>
          </a:prstGeom>
          <a:solidFill>
            <a:srgbClr val="FFFFFF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30518" y="1741932"/>
            <a:ext cx="914377" cy="425196"/>
          </a:xfrm>
          <a:prstGeom prst="rect">
            <a:avLst/>
          </a:prstGeom>
          <a:solidFill>
            <a:srgbClr val="F3F4F6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230237" y="1741932"/>
            <a:ext cx="914377" cy="425196"/>
          </a:xfrm>
          <a:prstGeom prst="rect">
            <a:avLst/>
          </a:prstGeom>
          <a:solidFill>
            <a:srgbClr val="374151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29956" y="1741932"/>
            <a:ext cx="914377" cy="425196"/>
          </a:xfrm>
          <a:prstGeom prst="rect">
            <a:avLst/>
          </a:prstGeom>
          <a:solidFill>
            <a:srgbClr val="9CA3AF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29675" y="1741932"/>
            <a:ext cx="914377" cy="425196"/>
          </a:xfrm>
          <a:prstGeom prst="rect">
            <a:avLst/>
          </a:prstGeom>
          <a:solidFill>
            <a:srgbClr val="D97706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394" y="1741932"/>
            <a:ext cx="914377" cy="425196"/>
          </a:xfrm>
          <a:prstGeom prst="rect">
            <a:avLst/>
          </a:prstGeom>
          <a:solidFill>
            <a:srgbClr val="1F2937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29113" y="1741932"/>
            <a:ext cx="914377" cy="425196"/>
          </a:xfrm>
          <a:prstGeom prst="rect">
            <a:avLst/>
          </a:prstGeom>
          <a:solidFill>
            <a:srgbClr val="111827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484857" y="1789938"/>
            <a:ext cx="1463003" cy="30614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0" b="0">
                <a:solidFill>
                  <a:srgbClr val="374151"/>
                </a:solidFill>
                <a:latin typeface="Arial"/>
              </a:rPr>
              <a:t>#FFFFFF  #F3F4F6  #374151  #9CA3AF  #D97706  #1F2937  #111827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543" y="2290572"/>
            <a:ext cx="2438339" cy="31889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19" b="1">
                <a:solidFill>
                  <a:srgbClr val="111827"/>
                </a:solidFill>
                <a:latin typeface="Arial"/>
              </a:rPr>
              <a:t>advanced_materials_teal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30799" y="2249423"/>
            <a:ext cx="914377" cy="425196"/>
          </a:xfrm>
          <a:prstGeom prst="rect">
            <a:avLst/>
          </a:prstGeom>
          <a:solidFill>
            <a:srgbClr val="FFFFFF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30518" y="2249423"/>
            <a:ext cx="914377" cy="425196"/>
          </a:xfrm>
          <a:prstGeom prst="rect">
            <a:avLst/>
          </a:prstGeom>
          <a:solidFill>
            <a:srgbClr val="F6FAFA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230237" y="2249423"/>
            <a:ext cx="914377" cy="425196"/>
          </a:xfrm>
          <a:prstGeom prst="rect">
            <a:avLst/>
          </a:prstGeom>
          <a:solidFill>
            <a:srgbClr val="087E8B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29956" y="2249423"/>
            <a:ext cx="914377" cy="425196"/>
          </a:xfrm>
          <a:prstGeom prst="rect">
            <a:avLst/>
          </a:prstGeom>
          <a:solidFill>
            <a:srgbClr val="56A3A6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29675" y="2249423"/>
            <a:ext cx="914377" cy="425196"/>
          </a:xfrm>
          <a:prstGeom prst="rect">
            <a:avLst/>
          </a:prstGeom>
          <a:solidFill>
            <a:srgbClr val="F25F5C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394" y="2249423"/>
            <a:ext cx="914377" cy="425196"/>
          </a:xfrm>
          <a:prstGeom prst="rect">
            <a:avLst/>
          </a:prstGeom>
          <a:solidFill>
            <a:srgbClr val="1B4965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229113" y="2249423"/>
            <a:ext cx="914377" cy="425196"/>
          </a:xfrm>
          <a:prstGeom prst="rect">
            <a:avLst/>
          </a:prstGeom>
          <a:solidFill>
            <a:srgbClr val="172A3A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484857" y="2297429"/>
            <a:ext cx="1463003" cy="30614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0" b="0">
                <a:solidFill>
                  <a:srgbClr val="374151"/>
                </a:solidFill>
                <a:latin typeface="Arial"/>
              </a:rPr>
              <a:t>#FFFFFF  #F6FAFA  #087E8B  #56A3A6  #F25F5C  #1B4965  #172A3A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0543" y="2798063"/>
            <a:ext cx="2438339" cy="31889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19" b="1">
                <a:solidFill>
                  <a:srgbClr val="111827"/>
                </a:solidFill>
                <a:latin typeface="Arial"/>
              </a:rPr>
              <a:t>cell_biomedical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30799" y="2756915"/>
            <a:ext cx="914377" cy="425196"/>
          </a:xfrm>
          <a:prstGeom prst="rect">
            <a:avLst/>
          </a:prstGeom>
          <a:solidFill>
            <a:srgbClr val="FFFFFF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230518" y="2756915"/>
            <a:ext cx="914377" cy="425196"/>
          </a:xfrm>
          <a:prstGeom prst="rect">
            <a:avLst/>
          </a:prstGeom>
          <a:solidFill>
            <a:srgbClr val="F8F5FF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230237" y="2756915"/>
            <a:ext cx="914377" cy="425196"/>
          </a:xfrm>
          <a:prstGeom prst="rect">
            <a:avLst/>
          </a:prstGeom>
          <a:solidFill>
            <a:srgbClr val="7B2CBF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29956" y="2756915"/>
            <a:ext cx="914377" cy="425196"/>
          </a:xfrm>
          <a:prstGeom prst="rect">
            <a:avLst/>
          </a:prstGeom>
          <a:solidFill>
            <a:srgbClr val="2EC4B6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229675" y="2756915"/>
            <a:ext cx="914377" cy="425196"/>
          </a:xfrm>
          <a:prstGeom prst="rect">
            <a:avLst/>
          </a:prstGeom>
          <a:solidFill>
            <a:srgbClr val="FF9F1C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29394" y="2756915"/>
            <a:ext cx="914377" cy="425196"/>
          </a:xfrm>
          <a:prstGeom prst="rect">
            <a:avLst/>
          </a:prstGeom>
          <a:solidFill>
            <a:srgbClr val="3D405B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229113" y="2756915"/>
            <a:ext cx="914377" cy="425196"/>
          </a:xfrm>
          <a:prstGeom prst="rect">
            <a:avLst/>
          </a:prstGeom>
          <a:solidFill>
            <a:srgbClr val="253237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484857" y="2804922"/>
            <a:ext cx="1463003" cy="30614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0" b="0">
                <a:solidFill>
                  <a:srgbClr val="374151"/>
                </a:solidFill>
                <a:latin typeface="Arial"/>
              </a:rPr>
              <a:t>#FFFFFF  #F8F5FF  #7B2CBF  #2EC4B6  #FF9F1C  #3D405B  #253237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0543" y="3305556"/>
            <a:ext cx="2438339" cy="31889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19" b="1">
                <a:solidFill>
                  <a:srgbClr val="111827"/>
                </a:solidFill>
                <a:latin typeface="Arial"/>
              </a:rPr>
              <a:t>engineering_amber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799" y="3264408"/>
            <a:ext cx="914377" cy="425196"/>
          </a:xfrm>
          <a:prstGeom prst="rect">
            <a:avLst/>
          </a:prstGeom>
          <a:solidFill>
            <a:srgbClr val="FFFFFF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230518" y="3264408"/>
            <a:ext cx="914377" cy="425196"/>
          </a:xfrm>
          <a:prstGeom prst="rect">
            <a:avLst/>
          </a:prstGeom>
          <a:solidFill>
            <a:srgbClr val="FAF7F2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230237" y="3264408"/>
            <a:ext cx="914377" cy="425196"/>
          </a:xfrm>
          <a:prstGeom prst="rect">
            <a:avLst/>
          </a:prstGeom>
          <a:solidFill>
            <a:srgbClr val="0F4C5C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29956" y="3264408"/>
            <a:ext cx="914377" cy="425196"/>
          </a:xfrm>
          <a:prstGeom prst="rect">
            <a:avLst/>
          </a:prstGeom>
          <a:solidFill>
            <a:srgbClr val="E36414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229675" y="3264408"/>
            <a:ext cx="914377" cy="425196"/>
          </a:xfrm>
          <a:prstGeom prst="rect">
            <a:avLst/>
          </a:prstGeom>
          <a:solidFill>
            <a:srgbClr val="5F0F40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229394" y="3264408"/>
            <a:ext cx="914377" cy="425196"/>
          </a:xfrm>
          <a:prstGeom prst="rect">
            <a:avLst/>
          </a:prstGeom>
          <a:solidFill>
            <a:srgbClr val="334155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229113" y="3264408"/>
            <a:ext cx="914377" cy="425196"/>
          </a:xfrm>
          <a:prstGeom prst="rect">
            <a:avLst/>
          </a:prstGeom>
          <a:solidFill>
            <a:srgbClr val="1F2937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484857" y="3312414"/>
            <a:ext cx="1463003" cy="30614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0" b="0">
                <a:solidFill>
                  <a:srgbClr val="374151"/>
                </a:solidFill>
                <a:latin typeface="Arial"/>
              </a:rPr>
              <a:t>#FFFFFF  #FAF7F2  #0F4C5C  #E36414  #5F0F40  #334155  #1F2937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0543" y="3813048"/>
            <a:ext cx="2438339" cy="31889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19" b="1">
                <a:solidFill>
                  <a:srgbClr val="111827"/>
                </a:solidFill>
                <a:latin typeface="Arial"/>
              </a:rPr>
              <a:t>ai4science_indigo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30799" y="3771900"/>
            <a:ext cx="914377" cy="425196"/>
          </a:xfrm>
          <a:prstGeom prst="rect">
            <a:avLst/>
          </a:prstGeom>
          <a:solidFill>
            <a:srgbClr val="FFFFFF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230518" y="3771900"/>
            <a:ext cx="914377" cy="425196"/>
          </a:xfrm>
          <a:prstGeom prst="rect">
            <a:avLst/>
          </a:prstGeom>
          <a:solidFill>
            <a:srgbClr val="F5F7FF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230237" y="3771900"/>
            <a:ext cx="914377" cy="425196"/>
          </a:xfrm>
          <a:prstGeom prst="rect">
            <a:avLst/>
          </a:prstGeom>
          <a:solidFill>
            <a:srgbClr val="3B5BDB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229956" y="3771900"/>
            <a:ext cx="914377" cy="425196"/>
          </a:xfrm>
          <a:prstGeom prst="rect">
            <a:avLst/>
          </a:prstGeom>
          <a:solidFill>
            <a:srgbClr val="20C997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229675" y="3771900"/>
            <a:ext cx="914377" cy="425196"/>
          </a:xfrm>
          <a:prstGeom prst="rect">
            <a:avLst/>
          </a:prstGeom>
          <a:solidFill>
            <a:srgbClr val="F76707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229394" y="3771900"/>
            <a:ext cx="914377" cy="425196"/>
          </a:xfrm>
          <a:prstGeom prst="rect">
            <a:avLst/>
          </a:prstGeom>
          <a:solidFill>
            <a:srgbClr val="243B53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229113" y="3771900"/>
            <a:ext cx="914377" cy="425196"/>
          </a:xfrm>
          <a:prstGeom prst="rect">
            <a:avLst/>
          </a:prstGeom>
          <a:solidFill>
            <a:srgbClr val="202A44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484857" y="3819906"/>
            <a:ext cx="1463003" cy="30614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0" b="0">
                <a:solidFill>
                  <a:srgbClr val="374151"/>
                </a:solidFill>
                <a:latin typeface="Arial"/>
              </a:rPr>
              <a:t>#FFFFFF  #F5F7FF  #3B5BDB  #20C997  #F76707  #243B53  #202A44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0543" y="4320540"/>
            <a:ext cx="2438339" cy="31889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19" b="1">
                <a:solidFill>
                  <a:srgbClr val="111827"/>
                </a:solidFill>
                <a:latin typeface="Arial"/>
              </a:rPr>
              <a:t>earth_environment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230799" y="4279391"/>
            <a:ext cx="914377" cy="425196"/>
          </a:xfrm>
          <a:prstGeom prst="rect">
            <a:avLst/>
          </a:prstGeom>
          <a:solidFill>
            <a:srgbClr val="FFFFFF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230518" y="4279391"/>
            <a:ext cx="914377" cy="425196"/>
          </a:xfrm>
          <a:prstGeom prst="rect">
            <a:avLst/>
          </a:prstGeom>
          <a:solidFill>
            <a:srgbClr val="F4F8F5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230237" y="4279391"/>
            <a:ext cx="914377" cy="425196"/>
          </a:xfrm>
          <a:prstGeom prst="rect">
            <a:avLst/>
          </a:prstGeom>
          <a:solidFill>
            <a:srgbClr val="2D6A4F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229956" y="4279391"/>
            <a:ext cx="914377" cy="425196"/>
          </a:xfrm>
          <a:prstGeom prst="rect">
            <a:avLst/>
          </a:prstGeom>
          <a:solidFill>
            <a:srgbClr val="40916C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229675" y="4279391"/>
            <a:ext cx="914377" cy="425196"/>
          </a:xfrm>
          <a:prstGeom prst="rect">
            <a:avLst/>
          </a:prstGeom>
          <a:solidFill>
            <a:srgbClr val="DDA15E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229394" y="4279391"/>
            <a:ext cx="914377" cy="425196"/>
          </a:xfrm>
          <a:prstGeom prst="rect">
            <a:avLst/>
          </a:prstGeom>
          <a:solidFill>
            <a:srgbClr val="264653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229113" y="4279391"/>
            <a:ext cx="914377" cy="425196"/>
          </a:xfrm>
          <a:prstGeom prst="rect">
            <a:avLst/>
          </a:prstGeom>
          <a:solidFill>
            <a:srgbClr val="233D4D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484857" y="4327397"/>
            <a:ext cx="1463003" cy="30614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0" b="0">
                <a:solidFill>
                  <a:srgbClr val="374151"/>
                </a:solidFill>
                <a:latin typeface="Arial"/>
              </a:rPr>
              <a:t>#FFFFFF  #F4F8F5  #2D6A4F  #40916C  #DDA15E  #264653  #233D4D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0543" y="4828031"/>
            <a:ext cx="2438339" cy="31889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19" b="1">
                <a:solidFill>
                  <a:srgbClr val="111827"/>
                </a:solidFill>
                <a:latin typeface="Arial"/>
              </a:rPr>
              <a:t>minimal_mono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230799" y="4786883"/>
            <a:ext cx="914377" cy="425196"/>
          </a:xfrm>
          <a:prstGeom prst="rect">
            <a:avLst/>
          </a:prstGeom>
          <a:solidFill>
            <a:srgbClr val="FFFFFF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230518" y="4786883"/>
            <a:ext cx="914377" cy="425196"/>
          </a:xfrm>
          <a:prstGeom prst="rect">
            <a:avLst/>
          </a:prstGeom>
          <a:solidFill>
            <a:srgbClr val="F5F5F5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230237" y="4786883"/>
            <a:ext cx="914377" cy="425196"/>
          </a:xfrm>
          <a:prstGeom prst="rect">
            <a:avLst/>
          </a:prstGeom>
          <a:solidFill>
            <a:srgbClr val="222222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229956" y="4786883"/>
            <a:ext cx="914377" cy="425196"/>
          </a:xfrm>
          <a:prstGeom prst="rect">
            <a:avLst/>
          </a:prstGeom>
          <a:solidFill>
            <a:srgbClr val="888888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229675" y="4786883"/>
            <a:ext cx="914377" cy="425196"/>
          </a:xfrm>
          <a:prstGeom prst="rect">
            <a:avLst/>
          </a:prstGeom>
          <a:solidFill>
            <a:srgbClr val="B45309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229394" y="4786883"/>
            <a:ext cx="914377" cy="425196"/>
          </a:xfrm>
          <a:prstGeom prst="rect">
            <a:avLst/>
          </a:prstGeom>
          <a:solidFill>
            <a:srgbClr val="222222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229113" y="4786883"/>
            <a:ext cx="914377" cy="425196"/>
          </a:xfrm>
          <a:prstGeom prst="rect">
            <a:avLst/>
          </a:prstGeom>
          <a:solidFill>
            <a:srgbClr val="111111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484857" y="4834890"/>
            <a:ext cx="1463003" cy="30614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0" b="0">
                <a:solidFill>
                  <a:srgbClr val="374151"/>
                </a:solidFill>
                <a:latin typeface="Arial"/>
              </a:rPr>
              <a:t>#FFFFFF  #F5F5F5  #222222  #888888  #B45309  #222222  #111111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70543" y="5335524"/>
            <a:ext cx="2438339" cy="31889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19" b="1">
                <a:solidFill>
                  <a:srgbClr val="111827"/>
                </a:solidFill>
                <a:latin typeface="Arial"/>
              </a:rPr>
              <a:t>chinese_science_blue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230799" y="5294376"/>
            <a:ext cx="914377" cy="425196"/>
          </a:xfrm>
          <a:prstGeom prst="rect">
            <a:avLst/>
          </a:prstGeom>
          <a:solidFill>
            <a:srgbClr val="FFFFFF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230518" y="5294376"/>
            <a:ext cx="914377" cy="425196"/>
          </a:xfrm>
          <a:prstGeom prst="rect">
            <a:avLst/>
          </a:prstGeom>
          <a:solidFill>
            <a:srgbClr val="F4F8FB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230237" y="5294376"/>
            <a:ext cx="914377" cy="425196"/>
          </a:xfrm>
          <a:prstGeom prst="rect">
            <a:avLst/>
          </a:prstGeom>
          <a:solidFill>
            <a:srgbClr val="1D5F8A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229956" y="5294376"/>
            <a:ext cx="914377" cy="425196"/>
          </a:xfrm>
          <a:prstGeom prst="rect">
            <a:avLst/>
          </a:prstGeom>
          <a:solidFill>
            <a:srgbClr val="3A8FB7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229675" y="5294376"/>
            <a:ext cx="914377" cy="425196"/>
          </a:xfrm>
          <a:prstGeom prst="rect">
            <a:avLst/>
          </a:prstGeom>
          <a:solidFill>
            <a:srgbClr val="B23A48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229394" y="5294376"/>
            <a:ext cx="914377" cy="425196"/>
          </a:xfrm>
          <a:prstGeom prst="rect">
            <a:avLst/>
          </a:prstGeom>
          <a:solidFill>
            <a:srgbClr val="243B53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229113" y="5294376"/>
            <a:ext cx="914377" cy="425196"/>
          </a:xfrm>
          <a:prstGeom prst="rect">
            <a:avLst/>
          </a:prstGeom>
          <a:solidFill>
            <a:srgbClr val="1A2A3A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484857" y="5342382"/>
            <a:ext cx="1463003" cy="30614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0" b="0">
                <a:solidFill>
                  <a:srgbClr val="374151"/>
                </a:solidFill>
                <a:latin typeface="Arial"/>
              </a:rPr>
              <a:t>#FFFFFF  #F4F8FB  #1D5F8A  #3A8FB7  #B23A48  #243B53  #1A2A3A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70543" y="5843015"/>
            <a:ext cx="2438339" cy="31889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19" b="1">
                <a:solidFill>
                  <a:srgbClr val="111827"/>
                </a:solidFill>
                <a:latin typeface="Arial"/>
              </a:rPr>
              <a:t>chinese_academy_red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230799" y="5801867"/>
            <a:ext cx="914377" cy="425196"/>
          </a:xfrm>
          <a:prstGeom prst="rect">
            <a:avLst/>
          </a:prstGeom>
          <a:solidFill>
            <a:srgbClr val="FFFFFF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4230518" y="5801867"/>
            <a:ext cx="914377" cy="425196"/>
          </a:xfrm>
          <a:prstGeom prst="rect">
            <a:avLst/>
          </a:prstGeom>
          <a:solidFill>
            <a:srgbClr val="FBF7F4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5230237" y="5801867"/>
            <a:ext cx="914377" cy="425196"/>
          </a:xfrm>
          <a:prstGeom prst="rect">
            <a:avLst/>
          </a:prstGeom>
          <a:solidFill>
            <a:srgbClr val="9E2A2B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229956" y="5801867"/>
            <a:ext cx="914377" cy="425196"/>
          </a:xfrm>
          <a:prstGeom prst="rect">
            <a:avLst/>
          </a:prstGeom>
          <a:solidFill>
            <a:srgbClr val="335C67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229675" y="5801867"/>
            <a:ext cx="914377" cy="425196"/>
          </a:xfrm>
          <a:prstGeom prst="rect">
            <a:avLst/>
          </a:prstGeom>
          <a:solidFill>
            <a:srgbClr val="C9A227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8229394" y="5801867"/>
            <a:ext cx="914377" cy="425196"/>
          </a:xfrm>
          <a:prstGeom prst="rect">
            <a:avLst/>
          </a:prstGeom>
          <a:solidFill>
            <a:srgbClr val="3A2E2E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229113" y="5801867"/>
            <a:ext cx="914377" cy="425196"/>
          </a:xfrm>
          <a:prstGeom prst="rect">
            <a:avLst/>
          </a:prstGeom>
          <a:solidFill>
            <a:srgbClr val="241A1A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484857" y="5849873"/>
            <a:ext cx="1463003" cy="30614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0" b="0">
                <a:solidFill>
                  <a:srgbClr val="374151"/>
                </a:solidFill>
                <a:latin typeface="Arial"/>
              </a:rPr>
              <a:t>#FFFFFF  #FBF7F4  #9E2A2B  #335C67  #C9A227  #3A2E2E  #241A1A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70543" y="6350507"/>
            <a:ext cx="2438339" cy="31889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19" b="1">
                <a:solidFill>
                  <a:srgbClr val="111827"/>
                </a:solidFill>
                <a:latin typeface="Arial"/>
              </a:rPr>
              <a:t>sci_cjk_bilingual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230799" y="6309359"/>
            <a:ext cx="914377" cy="425196"/>
          </a:xfrm>
          <a:prstGeom prst="rect">
            <a:avLst/>
          </a:prstGeom>
          <a:solidFill>
            <a:srgbClr val="FFFFFF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230518" y="6309359"/>
            <a:ext cx="914377" cy="425196"/>
          </a:xfrm>
          <a:prstGeom prst="rect">
            <a:avLst/>
          </a:prstGeom>
          <a:solidFill>
            <a:srgbClr val="F5F8FA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230237" y="6309359"/>
            <a:ext cx="914377" cy="425196"/>
          </a:xfrm>
          <a:prstGeom prst="rect">
            <a:avLst/>
          </a:prstGeom>
          <a:solidFill>
            <a:srgbClr val="255F85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229956" y="6309359"/>
            <a:ext cx="914377" cy="425196"/>
          </a:xfrm>
          <a:prstGeom prst="rect">
            <a:avLst/>
          </a:prstGeom>
          <a:solidFill>
            <a:srgbClr val="2A9D8F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7229675" y="6309359"/>
            <a:ext cx="914377" cy="425196"/>
          </a:xfrm>
          <a:prstGeom prst="rect">
            <a:avLst/>
          </a:prstGeom>
          <a:solidFill>
            <a:srgbClr val="D45D44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229394" y="6309359"/>
            <a:ext cx="914377" cy="425196"/>
          </a:xfrm>
          <a:prstGeom prst="rect">
            <a:avLst/>
          </a:prstGeom>
          <a:solidFill>
            <a:srgbClr val="2D3748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229113" y="6309359"/>
            <a:ext cx="914377" cy="425196"/>
          </a:xfrm>
          <a:prstGeom prst="rect">
            <a:avLst/>
          </a:prstGeom>
          <a:solidFill>
            <a:srgbClr val="172033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484857" y="6357366"/>
            <a:ext cx="1463003" cy="30614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0" b="0">
                <a:solidFill>
                  <a:srgbClr val="374151"/>
                </a:solidFill>
                <a:latin typeface="Arial"/>
              </a:rPr>
              <a:t>#FFFFFF  #F5F8FA  #255F85  #2A9D8F  #D45D44  #2D3748  #172033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