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42062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300" b="1">
                <a:solidFill>
                  <a:srgbClr val="232A7A"/>
                </a:solidFill>
                <a:latin typeface="Arial"/>
              </a:rPr>
              <a:t>Physics-guided neural simulation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03120"/>
            <a:ext cx="2148840" cy="1828800"/>
          </a:xfrm>
          <a:prstGeom prst="roundRect">
            <a:avLst/>
          </a:prstGeom>
          <a:solidFill>
            <a:srgbClr val="ECEEFF"/>
          </a:solidFill>
          <a:ln w="11430">
            <a:solidFill>
              <a:srgbClr val="4C63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2212848"/>
            <a:ext cx="192938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50" b="1">
                <a:solidFill>
                  <a:srgbClr val="232A7A"/>
                </a:solidFill>
                <a:latin typeface="Arial"/>
              </a:rPr>
              <a:t>Simulation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87552" y="2606039"/>
            <a:ext cx="1819656" cy="237744"/>
          </a:xfrm>
          <a:prstGeom prst="roundRect">
            <a:avLst/>
          </a:prstGeom>
          <a:solidFill>
            <a:srgbClr val="FFFFFF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2638044"/>
            <a:ext cx="1709928" cy="14630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19" b="0">
                <a:solidFill>
                  <a:srgbClr val="1D2030"/>
                </a:solidFill>
                <a:latin typeface="Arial"/>
              </a:rPr>
              <a:t>Fields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87552" y="2953511"/>
            <a:ext cx="1819656" cy="237744"/>
          </a:xfrm>
          <a:prstGeom prst="roundRect">
            <a:avLst/>
          </a:prstGeom>
          <a:solidFill>
            <a:srgbClr val="FFFFFF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985515"/>
            <a:ext cx="1709928" cy="14630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19" b="0">
                <a:solidFill>
                  <a:srgbClr val="1D2030"/>
                </a:solidFill>
                <a:latin typeface="Arial"/>
              </a:rPr>
              <a:t>Boundary conditions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1513332" y="3364991"/>
            <a:ext cx="201168" cy="146304"/>
          </a:xfrm>
          <a:prstGeom prst="rect">
            <a:avLst/>
          </a:prstGeom>
          <a:solidFill>
            <a:srgbClr val="FFFFFF"/>
          </a:solidFill>
          <a:ln>
            <a:solidFill>
              <a:srgbClr val="4C63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87652" y="3364991"/>
            <a:ext cx="201168" cy="146304"/>
          </a:xfrm>
          <a:prstGeom prst="rect">
            <a:avLst/>
          </a:prstGeom>
          <a:solidFill>
            <a:srgbClr val="FFFFFF"/>
          </a:solidFill>
          <a:ln>
            <a:solidFill>
              <a:srgbClr val="4C63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61972" y="3364991"/>
            <a:ext cx="201168" cy="146304"/>
          </a:xfrm>
          <a:prstGeom prst="rect">
            <a:avLst/>
          </a:prstGeom>
          <a:solidFill>
            <a:srgbClr val="FFFFFF"/>
          </a:solidFill>
          <a:ln>
            <a:solidFill>
              <a:srgbClr val="4C63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03320" y="1691640"/>
            <a:ext cx="2743200" cy="2423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32A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13048" y="1801368"/>
            <a:ext cx="252374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232A7A"/>
                </a:solidFill>
                <a:latin typeface="Arial"/>
              </a:rPr>
              <a:t>Neural operator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67911" y="2194560"/>
            <a:ext cx="2414016" cy="237744"/>
          </a:xfrm>
          <a:prstGeom prst="roundRect">
            <a:avLst/>
          </a:prstGeom>
          <a:solidFill>
            <a:srgbClr val="FFFFFF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22776" y="2226564"/>
            <a:ext cx="2304288" cy="14630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19" b="0">
                <a:solidFill>
                  <a:srgbClr val="1D2030"/>
                </a:solidFill>
                <a:latin typeface="Arial"/>
              </a:rPr>
              <a:t>Physics residual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67911" y="2542032"/>
            <a:ext cx="2414016" cy="237744"/>
          </a:xfrm>
          <a:prstGeom prst="roundRect">
            <a:avLst/>
          </a:prstGeom>
          <a:solidFill>
            <a:srgbClr val="FFFFFF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22776" y="2574036"/>
            <a:ext cx="2304288" cy="14630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19" b="0">
                <a:solidFill>
                  <a:srgbClr val="1D2030"/>
                </a:solidFill>
                <a:latin typeface="Arial"/>
              </a:rPr>
              <a:t>Closure calibration</a:t>
            </a:r>
          </a:p>
        </p:txBody>
      </p:sp>
      <p:sp>
        <p:nvSpPr>
          <p:cNvPr id="18" name="Oval 17"/>
          <p:cNvSpPr/>
          <p:nvPr/>
        </p:nvSpPr>
        <p:spPr>
          <a:xfrm>
            <a:off x="4663440" y="3547872"/>
            <a:ext cx="146304" cy="146304"/>
          </a:xfrm>
          <a:prstGeom prst="ellipse">
            <a:avLst/>
          </a:prstGeom>
          <a:solidFill>
            <a:srgbClr val="4C63D2"/>
          </a:solidFill>
          <a:ln>
            <a:solidFill>
              <a:srgbClr val="4C63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074920" y="3547872"/>
            <a:ext cx="146304" cy="146304"/>
          </a:xfrm>
          <a:prstGeom prst="ellipse">
            <a:avLst/>
          </a:prstGeom>
          <a:solidFill>
            <a:srgbClr val="4C63D2"/>
          </a:solidFill>
          <a:ln>
            <a:solidFill>
              <a:srgbClr val="4C63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486400" y="3547872"/>
            <a:ext cx="146304" cy="146304"/>
          </a:xfrm>
          <a:prstGeom prst="ellipse">
            <a:avLst/>
          </a:prstGeom>
          <a:solidFill>
            <a:srgbClr val="4C63D2"/>
          </a:solidFill>
          <a:ln>
            <a:solidFill>
              <a:srgbClr val="4C63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4736592" y="3621024"/>
            <a:ext cx="822960" cy="0"/>
          </a:xfrm>
          <a:prstGeom prst="line">
            <a:avLst/>
          </a:prstGeom>
          <a:ln w="12700">
            <a:solidFill>
              <a:srgbClr val="4C63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406640" y="2103120"/>
            <a:ext cx="2148840" cy="1828800"/>
          </a:xfrm>
          <a:prstGeom prst="roundRect">
            <a:avLst/>
          </a:prstGeom>
          <a:solidFill>
            <a:srgbClr val="ECEEFF"/>
          </a:solidFill>
          <a:ln w="11430">
            <a:solidFill>
              <a:srgbClr val="4C63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367" y="2212848"/>
            <a:ext cx="1929384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50" b="1">
                <a:solidFill>
                  <a:srgbClr val="232A7A"/>
                </a:solidFill>
                <a:latin typeface="Arial"/>
              </a:rPr>
              <a:t>Prediction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71231" y="2606039"/>
            <a:ext cx="1819656" cy="237744"/>
          </a:xfrm>
          <a:prstGeom prst="roundRect">
            <a:avLst/>
          </a:prstGeom>
          <a:solidFill>
            <a:srgbClr val="FFFFFF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26096" y="2638044"/>
            <a:ext cx="1709928" cy="14630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19" b="0">
                <a:solidFill>
                  <a:srgbClr val="1D2030"/>
                </a:solidFill>
                <a:latin typeface="Arial"/>
              </a:rPr>
              <a:t>F1 / error tags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71231" y="2953511"/>
            <a:ext cx="1819656" cy="237744"/>
          </a:xfrm>
          <a:prstGeom prst="roundRect">
            <a:avLst/>
          </a:prstGeom>
          <a:solidFill>
            <a:srgbClr val="FFFFFF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6096" y="2985515"/>
            <a:ext cx="1709928" cy="14630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19" b="0">
                <a:solidFill>
                  <a:srgbClr val="1D2030"/>
                </a:solidFill>
                <a:latin typeface="Arial"/>
              </a:rPr>
              <a:t>Decision support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3588" y="3529584"/>
            <a:ext cx="146304" cy="146304"/>
          </a:xfrm>
          <a:prstGeom prst="rect">
            <a:avLst/>
          </a:prstGeom>
          <a:solidFill>
            <a:srgbClr val="8EA0F2"/>
          </a:solidFill>
          <a:ln>
            <a:solidFill>
              <a:srgbClr val="8EA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389619" y="3474720"/>
            <a:ext cx="146304" cy="201168"/>
          </a:xfrm>
          <a:prstGeom prst="rect">
            <a:avLst/>
          </a:prstGeom>
          <a:solidFill>
            <a:srgbClr val="8EA0F2"/>
          </a:solidFill>
          <a:ln>
            <a:solidFill>
              <a:srgbClr val="8EA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645652" y="3419856"/>
            <a:ext cx="146304" cy="256032"/>
          </a:xfrm>
          <a:prstGeom prst="rect">
            <a:avLst/>
          </a:prstGeom>
          <a:solidFill>
            <a:srgbClr val="8EA0F2"/>
          </a:solidFill>
          <a:ln>
            <a:solidFill>
              <a:srgbClr val="8EA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3136392" y="2903220"/>
            <a:ext cx="402335" cy="114300"/>
          </a:xfrm>
          <a:prstGeom prst="line">
            <a:avLst/>
          </a:prstGeom>
          <a:ln w="21590">
            <a:solidFill>
              <a:srgbClr val="232A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611112" y="2903220"/>
            <a:ext cx="630936" cy="114300"/>
          </a:xfrm>
          <a:prstGeom prst="line">
            <a:avLst/>
          </a:prstGeom>
          <a:ln w="21590">
            <a:solidFill>
              <a:srgbClr val="232A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60120" y="5806440"/>
            <a:ext cx="10287000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D7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5916168"/>
            <a:ext cx="10104120" cy="16459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50" b="0">
                <a:solidFill>
                  <a:srgbClr val="1D2030"/>
                </a:solidFill>
                <a:latin typeface="Arial"/>
              </a:rPr>
              <a:t>Physics-guided neural operators convert simulation fields into traceable prediction, validation, and engineering decision summaries.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